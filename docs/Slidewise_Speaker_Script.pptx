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8" r:id="rId1"/>
  </p:sldMasterIdLst>
  <p:notesMasterIdLst>
    <p:notesMasterId r:id="rId7"/>
  </p:notesMasterIdLst>
  <p:sldIdLst>
    <p:sldId id="256" r:id="rId6"/>
    <p:sldId id="257" r:id="rId5"/>
    <p:sldId id="258" r:id="rId4"/>
    <p:sldId id="259" r:id="rId3"/>
    <p:sldId id="260" r:id="rId2"/>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1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5.xml"/><Relationship Id="rId3" Type="http://schemas.openxmlformats.org/officeDocument/2006/relationships/slide" Target="slides/slide4.xml"/><Relationship Id="rId4" Type="http://schemas.openxmlformats.org/officeDocument/2006/relationships/slide" Target="slides/slide3.xml"/><Relationship Id="rId5" Type="http://schemas.openxmlformats.org/officeDocument/2006/relationships/slide" Target="slides/slide2.xml"/><Relationship Id="rId6" Type="http://schemas.openxmlformats.org/officeDocument/2006/relationships/slide" Target="slides/slide1.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57A213-BE6B-43C7-B1FE-AADA6081DE38}" type="datetimeFigureOut">
              <a:rPr lang="en-US" smtClean="0"/>
              <a:t>9/5/2025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962463-EC55-413E-926C-081D28A3F7DD}" type="slidenum">
              <a:rPr lang="en-US" smtClean="0"/>
              <a:t>‹#›</a:t>
            </a:fld>
            <a:endParaRPr lang="en-US"/>
          </a:p>
        </p:txBody>
      </p:sp>
    </p:spTree>
    <p:extLst>
      <p:ext uri="{BB962C8B-B14F-4D97-AF65-F5344CB8AC3E}">
        <p14:creationId xmlns:p14="http://schemas.microsoft.com/office/powerpoint/2010/main" val="14509979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10 seconds</a:t>
            </a:r>
          </a:p>
          <a:p>
            <a:r>
              <a:t>Slide: Project Introduction</a:t>
            </a:r>
          </a:p>
          <a:p/>
          <a:p>
            <a:r>
              <a:t>Good morning respected teachers. We are Satakshi Krishna and Rutu Vaghaisya. Our DBMS project is Smart Cinema Management, Dynamic Pricing and Movie Recommendation System.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7 seconds</a:t>
            </a:r>
          </a:p>
          <a:p>
            <a:r>
              <a:t>Slide: Presentation Flow</a:t>
            </a:r>
          </a:p>
          <a:p/>
          <a:p>
            <a:r>
              <a:t>We will cover the problem, objectives, technologies, database design, booking process, pricing and recommendations, followed by implementation, testing and future scope.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18 seconds</a:t>
            </a:r>
          </a:p>
          <a:p>
            <a:r>
              <a:t>Slide: Introduction &amp; Problem Statement</a:t>
            </a:r>
          </a:p>
          <a:p/>
          <a:p>
            <a:r>
              <a:t>Cinema booking needs accurate handling of show schedules, seats and payments. Separate or manual records can lead to duplicated information and booking errors. Our project brings these tasks into one database-driven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18 seconds</a:t>
            </a:r>
          </a:p>
          <a:p>
            <a:r>
              <a:t>Slide: Project Aims &amp; Objectives</a:t>
            </a:r>
          </a:p>
          <a:p/>
          <a:p>
            <a:r>
              <a:t>Our aim is to build a cinema booking system using a normalized MySQL database. We focus on accurate seat reservations, rule-based dynamic pricing, customer recommendations, and a separate admin dashboard.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18 seconds</a:t>
            </a:r>
          </a:p>
          <a:p>
            <a:r>
              <a:t>Slide: Background &amp; Proposed System</a:t>
            </a:r>
          </a:p>
          <a:p/>
          <a:p>
            <a:r>
              <a:t>Traditional or disconnected systems may make availability checking, cancellation and reporting difficult. Our proposed system links customer booking, payments, refunds, movie reviews and administration through one Flask application and database.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18 seconds</a:t>
            </a:r>
          </a:p>
          <a:p>
            <a:r>
              <a:t>Slide: Software Requirements &amp; Tools</a:t>
            </a:r>
          </a:p>
          <a:p/>
          <a:p>
            <a:r>
              <a:t>We used HTML, CSS, JavaScript and Bootstrap for the pages, Python Flask for the backend, and MySQL for data storage. Pandas and scikit-learn support recommendations, while Figma, Postman and GitHub support design, testing and version control.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20 seconds</a:t>
            </a:r>
          </a:p>
          <a:p>
            <a:r>
              <a:t>Slide: System Design &amp; Architecture</a:t>
            </a:r>
          </a:p>
          <a:p/>
          <a:p>
            <a:r>
              <a:t>The browser sends requests to Flask. Flask validates data and executes SQL using the MySQL connector. The recommendation module reads movie and user information, calculates similarity, and returns suggestions that Flask displays on the website.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24 seconds</a:t>
            </a:r>
          </a:p>
          <a:p>
            <a:r>
              <a:t>Slide: ER Diagram — 13 Tables</a:t>
            </a:r>
          </a:p>
          <a:p/>
          <a:p>
            <a:r>
              <a:t>Our ER diagram contains thirteen main tables. A user can make many bookings; a movie can have many shows; and a theatre can have many screens. The movie_genres table handles the many-to-many relation between movies and genres.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Satakshi Krishna</a:t>
            </a:r>
          </a:p>
          <a:p>
            <a:r>
              <a:t>Time: 25 seconds</a:t>
            </a:r>
          </a:p>
          <a:p>
            <a:r>
              <a:t>Slide: Schema Design &amp; DBMS Features</a:t>
            </a:r>
          </a:p>
          <a:p/>
          <a:p>
            <a:r>
              <a:t>We used primary and foreign keys to link tables and normalization to avoid duplication. Transactions and a unique constraint on show ID and seat ID prevent incomplete or duplicate bookings. We also created a pricing function, payment trigger, stored procedure and ratings view.</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Rutu Vaghaisya</a:t>
            </a:r>
          </a:p>
          <a:p>
            <a:r>
              <a:t>Time: 22 seconds</a:t>
            </a:r>
          </a:p>
          <a:p>
            <a:r>
              <a:t>Slide: System Implementation — Booking</a:t>
            </a:r>
          </a:p>
          <a:p/>
          <a:p>
            <a:r>
              <a:t>Now I will explain the main workflow. A customer logs in, chooses a movie and show, and selects available seats. Flask checks the seats again, creates a pending booking, and after a successful simulated payment the trigger changes its status to confirmed.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Rutu Vaghaisya</a:t>
            </a:r>
          </a:p>
          <a:p>
            <a:r>
              <a:t>Time: 23 seconds</a:t>
            </a:r>
          </a:p>
          <a:p>
            <a:r>
              <a:t>Slide: Dynamic Ticket Pricing</a:t>
            </a:r>
          </a:p>
          <a:p/>
          <a:p>
            <a:r>
              <a:t>Our pricing function uses actual booked seats divided by total physical seats. In our tested example, four of ten seats were booked, giving forty percent occupancy. So a two-hundred-rupee base ticket increases by ten percent to two hundred and twenty rupees.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Rutu Vaghaisya</a:t>
            </a:r>
          </a:p>
          <a:p>
            <a:r>
              <a:t>Time: 24 seconds</a:t>
            </a:r>
          </a:p>
          <a:p>
            <a:r>
              <a:t>Slide: Movie Recommendation System</a:t>
            </a:r>
          </a:p>
          <a:p/>
          <a:p>
            <a:r>
              <a:t>Our recommendations use content-based filtering. TF-IDF converts movie text such as description and genre into numerical features, and cosine similarity compares them. Confirmed bookings and ratings are also weighted to produce more personalized movie suggestions.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Rutu Vaghaisya</a:t>
            </a:r>
          </a:p>
          <a:p>
            <a:r>
              <a:t>Time: 20 seconds</a:t>
            </a:r>
          </a:p>
          <a:p>
            <a:r>
              <a:t>Slide: Frontend &amp; Admin Dashboard</a:t>
            </a:r>
          </a:p>
          <a:p/>
          <a:p>
            <a:r>
              <a:t>We designed the screens in Figma and implemented the actual frontend with HTML, CSS, Bootstrap and JavaScript. Customers can book, cancel and review movies. The admin can manage movies and shows, and view revenue and booking analytics using Chart.js.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Rutu Vaghaisya</a:t>
            </a:r>
          </a:p>
          <a:p>
            <a:r>
              <a:t>Time: 23 seconds</a:t>
            </a:r>
          </a:p>
          <a:p>
            <a:r>
              <a:t>Slide: Testing &amp; Results</a:t>
            </a:r>
          </a:p>
          <a:p/>
          <a:p>
            <a:r>
              <a:t>We tested registration, booking, pricing, payments and cancellation. Postman was used to send a JSON POST request to the registration route, and the test passed. In MySQL Workbench we verified the forty-percent occupancy and two-hundred-and-twenty-rupee ticket price.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Rutu Vaghaisya</a:t>
            </a:r>
          </a:p>
          <a:p>
            <a:r>
              <a:t>Time: 19 seconds</a:t>
            </a:r>
          </a:p>
          <a:p>
            <a:r>
              <a:t>Slide: Applications, Limitations &amp; Future Scope</a:t>
            </a:r>
          </a:p>
          <a:p/>
          <a:p>
            <a:r>
              <a:t>This can be adapted for small cinemas or college screening events. Currently payments and refunds are simulated, and recommendations depend on available data. Future improvements include real payment integration, expiring unpaid seat holds, better recommendations and online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Rutu Vaghaisya</a:t>
            </a:r>
          </a:p>
          <a:p>
            <a:r>
              <a:t>Time: 11 seconds</a:t>
            </a:r>
          </a:p>
          <a:p>
            <a:r>
              <a:t>Slide: Conclusion &amp; References</a:t>
            </a:r>
          </a:p>
          <a:p/>
          <a:p>
            <a:r>
              <a:t>To conclude, our system combines normalized database design with booking, dynamic pricing, recommendations and administration. It helped us apply real DBMS concepts using Flask and MySQL. Thank you; we are ready for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p:txBody>
          <a:bodyPr/>
          <a:lstStyle/>
          <a:p>
            <a:fld id="{1E710ACA-83A2-4DA3-93B6-E68125FA916E}" type="datetime1">
              <a:rPr lang="en-US" smtClean="0"/>
              <a:t>9/5/2025</a:t>
            </a:fld>
            <a:endParaRPr lang="en-US"/>
          </a:p>
        </p:txBody>
      </p:sp>
      <p:sp>
        <p:nvSpPr>
          <p:cNvPr id="17" name="Footer Placeholder 16"/>
          <p:cNvSpPr>
            <a:spLocks noGrp="1"/>
          </p:cNvSpPr>
          <p:nvPr>
            <p:ph type="ftr" sz="quarter" idx="11"/>
          </p:nvPr>
        </p:nvSpPr>
        <p:spPr/>
        <p:txBody>
          <a:bodyPr/>
          <a:lstStyle/>
          <a:p>
            <a:r>
              <a:rPr lang="en-US"/>
              <a:t>Department of Electrical and Electronics Engineering</a:t>
            </a:r>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B6F15528-21DE-4FAA-801E-634DDDAF4B2B}" type="slidenum">
              <a:rPr lang="en-US" smtClean="0"/>
              <a:pPr/>
              <a:t>‹#›</a:t>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a:t>Click to edit Master title style</a:t>
            </a: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4" name="Date Placeholder 3"/>
          <p:cNvSpPr>
            <a:spLocks noGrp="1"/>
          </p:cNvSpPr>
          <p:nvPr>
            <p:ph type="dt" sz="half" idx="10"/>
          </p:nvPr>
        </p:nvSpPr>
        <p:spPr/>
        <p:txBody>
          <a:bodyPr/>
          <a:lstStyle/>
          <a:p>
            <a:fld id="{D8A17782-1209-4799-A160-B341E473A7CD}" type="datetime1">
              <a:rPr lang="en-US" smtClean="0"/>
              <a:t>9/5/2025</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a:t>Click to edit Master title style</a:t>
            </a:r>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fld id="{B88CA135-9B52-424F-9138-6CFF67B8E8AC}" type="datetime1">
              <a:rPr lang="en-US" smtClean="0"/>
              <a:t>9/5/2025</a:t>
            </a:fld>
            <a:endParaRPr lang="en-US"/>
          </a:p>
        </p:txBody>
      </p:sp>
      <p:sp>
        <p:nvSpPr>
          <p:cNvPr id="5" name="Footer Placeholder 4"/>
          <p:cNvSpPr>
            <a:spLocks noGrp="1"/>
          </p:cNvSpPr>
          <p:nvPr>
            <p:ph type="ftr" sz="quarter" idx="11"/>
          </p:nvPr>
        </p:nvSpPr>
        <p:spPr>
          <a:xfrm>
            <a:off x="800100" y="6172200"/>
            <a:ext cx="4000500" cy="457200"/>
          </a:xfrm>
        </p:spPr>
        <p:txBody>
          <a:bodyPr/>
          <a:lstStyle/>
          <a:p>
            <a:r>
              <a:rPr lang="en-US"/>
              <a:t>Department of Electrical and Electronics Engineering</a:t>
            </a:r>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fld id="{3441A7F9-CCB1-40D1-B9CC-0E17368C26D2}" type="datetime1">
              <a:rPr lang="en-US" smtClean="0"/>
              <a:t>9/5/2025</a:t>
            </a:fld>
            <a:endParaRPr lang="en-US"/>
          </a:p>
        </p:txBody>
      </p:sp>
      <p:sp>
        <p:nvSpPr>
          <p:cNvPr id="6" name="Footer Placeholder 5"/>
          <p:cNvSpPr>
            <a:spLocks noGrp="1"/>
          </p:cNvSpPr>
          <p:nvPr>
            <p:ph type="ftr" sz="quarter" idx="11"/>
          </p:nvPr>
        </p:nvSpPr>
        <p:spPr/>
        <p:txBody>
          <a:bodyPr/>
          <a:lstStyle/>
          <a:p>
            <a:r>
              <a:rPr lang="en-US"/>
              <a:t>Department of Electrical and Electronics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t>Click to edit Master text styles</a:t>
            </a:r>
          </a:p>
        </p:txBody>
      </p:sp>
      <p:sp>
        <p:nvSpPr>
          <p:cNvPr id="7" name="Date Placeholder 6"/>
          <p:cNvSpPr>
            <a:spLocks noGrp="1"/>
          </p:cNvSpPr>
          <p:nvPr>
            <p:ph type="dt" sz="half" idx="10"/>
          </p:nvPr>
        </p:nvSpPr>
        <p:spPr/>
        <p:txBody>
          <a:bodyPr/>
          <a:lstStyle/>
          <a:p>
            <a:fld id="{C18F5563-252C-4B1A-A2FF-CA8FA2FDE506}" type="datetime1">
              <a:rPr lang="en-US" smtClean="0"/>
              <a:t>9/5/2025</a:t>
            </a:fld>
            <a:endParaRPr lang="en-US"/>
          </a:p>
        </p:txBody>
      </p:sp>
      <p:sp>
        <p:nvSpPr>
          <p:cNvPr id="8" name="Footer Placeholder 7"/>
          <p:cNvSpPr>
            <a:spLocks noGrp="1"/>
          </p:cNvSpPr>
          <p:nvPr>
            <p:ph type="ftr" sz="quarter" idx="11"/>
          </p:nvPr>
        </p:nvSpPr>
        <p:spPr/>
        <p:txBody>
          <a:bodyPr/>
          <a:lstStyle/>
          <a:p>
            <a:r>
              <a:rPr lang="en-US"/>
              <a:t>Department of Electrical and Electronics Engineering</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Date Placeholder 2"/>
          <p:cNvSpPr>
            <a:spLocks noGrp="1"/>
          </p:cNvSpPr>
          <p:nvPr>
            <p:ph type="dt" sz="half" idx="10"/>
          </p:nvPr>
        </p:nvSpPr>
        <p:spPr/>
        <p:txBody>
          <a:bodyPr/>
          <a:lstStyle/>
          <a:p>
            <a:fld id="{57064672-CBD2-4792-B35D-D986D8EA46BE}" type="datetime1">
              <a:rPr lang="en-US" smtClean="0"/>
              <a:t>9/5/2025</a:t>
            </a:fld>
            <a:endParaRPr lang="en-US"/>
          </a:p>
        </p:txBody>
      </p:sp>
      <p:sp>
        <p:nvSpPr>
          <p:cNvPr id="4" name="Footer Placeholder 3"/>
          <p:cNvSpPr>
            <a:spLocks noGrp="1"/>
          </p:cNvSpPr>
          <p:nvPr>
            <p:ph type="ftr" sz="quarter" idx="11"/>
          </p:nvPr>
        </p:nvSpPr>
        <p:spPr/>
        <p:txBody>
          <a:bodyPr/>
          <a:lstStyle/>
          <a:p>
            <a:r>
              <a:rPr lang="en-US"/>
              <a:t>Department of Electrical and Electronics Engineering</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772B42-BB0F-498C-9EC8-BDFA99A52050}" type="datetime1">
              <a:rPr lang="en-US" smtClean="0"/>
              <a:t>9/5/2025</a:t>
            </a:fld>
            <a:endParaRPr lang="en-US"/>
          </a:p>
        </p:txBody>
      </p:sp>
      <p:sp>
        <p:nvSpPr>
          <p:cNvPr id="3" name="Footer Placeholder 2"/>
          <p:cNvSpPr>
            <a:spLocks noGrp="1"/>
          </p:cNvSpPr>
          <p:nvPr>
            <p:ph type="ftr" sz="quarter" idx="11"/>
          </p:nvPr>
        </p:nvSpPr>
        <p:spPr/>
        <p:txBody>
          <a:bodyPr/>
          <a:lstStyle/>
          <a:p>
            <a:r>
              <a:rPr lang="en-US"/>
              <a:t>Department of Electrical and Electronics Engineering</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8BB5E85A-AB81-4DA3-BDE5-91D5E74BA487}" type="datetime1">
              <a:rPr lang="en-US" smtClean="0"/>
              <a:t>9/5/2025</a:t>
            </a:fld>
            <a:endParaRPr lang="en-US"/>
          </a:p>
        </p:txBody>
      </p:sp>
      <p:sp>
        <p:nvSpPr>
          <p:cNvPr id="6" name="Footer Placeholder 5"/>
          <p:cNvSpPr>
            <a:spLocks noGrp="1"/>
          </p:cNvSpPr>
          <p:nvPr>
            <p:ph type="ftr" sz="quarter" idx="11"/>
          </p:nvPr>
        </p:nvSpPr>
        <p:spPr/>
        <p:txBody>
          <a:bodyPr/>
          <a:lstStyle/>
          <a:p>
            <a:r>
              <a:rPr lang="en-US"/>
              <a:t>Department of Electrical and Electronics Engineering</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5" name="Date Placeholder 4"/>
          <p:cNvSpPr>
            <a:spLocks noGrp="1"/>
          </p:cNvSpPr>
          <p:nvPr>
            <p:ph type="dt" sz="half" idx="10"/>
          </p:nvPr>
        </p:nvSpPr>
        <p:spPr/>
        <p:txBody>
          <a:bodyPr/>
          <a:lstStyle/>
          <a:p>
            <a:fld id="{AD4A742F-05D3-46D5-ABB2-2FA098C4F8D5}" type="datetime1">
              <a:rPr lang="en-US" smtClean="0"/>
              <a:t>9/5/2025</a:t>
            </a:fld>
            <a:endParaRPr lang="en-US"/>
          </a:p>
        </p:txBody>
      </p:sp>
      <p:sp>
        <p:nvSpPr>
          <p:cNvPr id="6" name="Footer Placeholder 5"/>
          <p:cNvSpPr>
            <a:spLocks noGrp="1"/>
          </p:cNvSpPr>
          <p:nvPr>
            <p:ph type="ftr" sz="quarter" idx="11"/>
          </p:nvPr>
        </p:nvSpPr>
        <p:spPr>
          <a:xfrm>
            <a:off x="914400" y="6172200"/>
            <a:ext cx="3886200" cy="457200"/>
          </a:xfrm>
        </p:spPr>
        <p:txBody>
          <a:bodyPr/>
          <a:lstStyle/>
          <a:p>
            <a:r>
              <a:rPr lang="en-US"/>
              <a:t>Department of Electrical and Electronics Engineering</a:t>
            </a:r>
          </a:p>
        </p:txBody>
      </p:sp>
      <p:sp>
        <p:nvSpPr>
          <p:cNvPr id="7" name="Slide Number Placeholder 6"/>
          <p:cNvSpPr>
            <a:spLocks noGrp="1"/>
          </p:cNvSpPr>
          <p:nvPr>
            <p:ph type="sldNum" sz="quarter" idx="12"/>
          </p:nvPr>
        </p:nvSpPr>
        <p:spPr>
          <a:xfrm>
            <a:off x="146304" y="6208776"/>
            <a:ext cx="457200" cy="457200"/>
          </a:xfrm>
        </p:spPr>
        <p:txBody>
          <a:bodyPr/>
          <a:lstStyle/>
          <a:p>
            <a:fld id="{B6F15528-21DE-4FAA-801E-634DDDAF4B2B}" type="slidenum">
              <a:rPr lang="en-US" smtClean="0"/>
              <a:pPr/>
              <a:t>‹#›</a:t>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a:t>Click icon to add picture</a:t>
            </a:r>
            <a:endParaRPr kumimoji="0"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ABA5E980-1C1E-4513-85B5-75C020A35D3D}" type="datetime1">
              <a:rPr lang="en-US" smtClean="0"/>
              <a:t>9/5/2025</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16BA1640-484D-4D57-A6EC-A09247DA6DEF}" type="datetime1">
              <a:rPr lang="en-US" smtClean="0"/>
              <a:t>9/5/2025</a:t>
            </a:fld>
            <a:endParaRPr lang="en-US"/>
          </a:p>
        </p:txBody>
      </p:sp>
      <p:sp>
        <p:nvSpPr>
          <p:cNvPr id="5" name="Footer Placeholder 4"/>
          <p:cNvSpPr>
            <a:spLocks noGrp="1"/>
          </p:cNvSpPr>
          <p:nvPr>
            <p:ph type="ftr" sz="quarter" idx="11"/>
          </p:nvPr>
        </p:nvSpPr>
        <p:spPr/>
        <p:txBody>
          <a:bodyPr/>
          <a:lstStyle/>
          <a:p>
            <a:r>
              <a:rPr lang="en-US"/>
              <a:t>Department of Electrical and Electronics Engineering</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a:t>Click to edit Master title style</a:t>
            </a:r>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A2D738C1-5CA4-4D62-9FF9-A967F33B25BD}" type="datetime1">
              <a:rPr lang="en-US" smtClean="0"/>
              <a:t>9/5/2025</a:t>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r>
              <a:rPr lang="en-US"/>
              <a:t>Department of Electrical and Electronics Engineering</a:t>
            </a:r>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hf hdr="0"/>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01 — Project Introduction</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1</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10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Good morning respected teachers. We are Satakshi Krishna and Rutu Vaghaisya. Our DBMS project is Smart Cinema Management, Dynamic Pricing and Movie Recommendation System.</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Presentation Flow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02 — Presentation Flow</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2</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7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We will cover the problem, objectives, technologies, database design, booking process, pricing and recommendations, followed by implementation, testing and future scope.</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Introduction &amp; Problem Statement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03 — Introduction &amp; Problem Statement</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3</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18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Cinema booking needs accurate handling of show schedules, seats and payments. Separate or manual records can lead to duplicated information and booking errors. Our project brings these tasks into one database-driven application.</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Project Aims &amp; Objectives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04 — Project Aims &amp; Objectives</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4</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18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Our aim is to build a cinema booking system using a normalized MySQL database. We focus on accurate seat reservations, rule-based dynamic pricing, customer recommendations, and a separate admin dashboard.</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Background &amp; Proposed System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05 — Background &amp; Proposed System</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5</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18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Traditional or disconnected systems may make availability checking, cancellation and reporting difficult. Our proposed system links customer booking, payments, refunds, movie reviews and administration through one Flask application and database.</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Software Requirements &amp; Tools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06 — Software Requirements &amp; Tools</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6</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18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We used HTML, CSS, JavaScript and Bootstrap for the pages, Python Flask for the backend, and MySQL for data storage. Pandas and scikit-learn support recommendations, while Figma, Postman and GitHub support design, testing and version control.</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System Design &amp;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07 — System Design &amp; Architecture</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7</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20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The browser sends requests to Flask. Flask validates data and executes SQL using the MySQL connector. The recommendation module reads movie and user information, calculates similarity, and returns suggestions that Flask displays on the website.</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ER Diagram — 13 Tables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08 — ER Diagram — 13 Tables</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8</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24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Our ER diagram contains thirteen main tables. A user can make many bookings; a movie can have many shows; and a theatre can have many screens. The movie_genres table handles the many-to-many relation between movies and genres.</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Schema Design &amp; DBMS Features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09 — Schema Design &amp; DBMS Features</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9</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1 — SATAKSHI KRISHNA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25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We used primary and foreign keys to link tables and normalization to avoid duplication. Transactions and a unique constraint on show ID and seat ID prevent incomplete or duplicate bookings. We also created a pricing function, payment trigger, stored procedure and ratings view.</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System Implementation — Booking</a:t>
            </a:r>
          </a:p>
        </p:txBody>
      </p:sp>
      <p:sp>
        <p:nvSpPr>
          <p:cNvPr id="17" name="Rounded Rectangle 16"/>
          <p:cNvSpPr/>
          <p:nvPr/>
        </p:nvSpPr>
        <p:spPr>
          <a:xfrm>
            <a:off x="5020056" y="1280160"/>
            <a:ext cx="1581912" cy="347472"/>
          </a:xfrm>
          <a:prstGeom prst="roundRect">
            <a:avLst/>
          </a:prstGeom>
          <a:solidFill>
            <a:srgbClr val="EFF8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1335024"/>
            <a:ext cx="1554480" cy="219456"/>
          </a:xfrm>
          <a:prstGeom prst="rect">
            <a:avLst/>
          </a:prstGeom>
          <a:noFill/>
        </p:spPr>
        <p:txBody>
          <a:bodyPr wrap="square" lIns="36576" rIns="36576" tIns="36576" bIns="18288" anchor="t">
            <a:spAutoFit/>
          </a:bodyPr>
          <a:lstStyle/>
          <a:p>
            <a:pPr algn="ctr">
              <a:spcBef>
                <a:spcPts val="0"/>
              </a:spcBef>
              <a:spcAft>
                <a:spcPts val="0"/>
              </a:spcAft>
              <a:defRPr sz="1000" b="1" i="0">
                <a:solidFill>
                  <a:srgbClr val="266F57"/>
                </a:solidFill>
                <a:latin typeface="Arial"/>
              </a:defRPr>
            </a:pPr>
            <a:r>
              <a:t>HANDOVER → RUTU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10 — System Implementation — Booking</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10</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2 — RUTU VAGHAISYA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22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Now I will explain the main workflow. A customer logs in, chooses a movie and show, and selects available seats. Flask checks the seats again, creates a pending booking, and after a successful simulated payment the trigger changes its status to confirmed.</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Dynamic Ticket Pricing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11 — Dynamic Ticket Pricing</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11</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2 — RUTU VAGHAISYA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23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Our pricing function uses actual booked seats divided by total physical seats. In our tested example, four of ten seats were booked, giving forty percent occupancy. So a two-hundred-rupee base ticket increases by ten percent to two hundred and twenty rupees.</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Movie Recommendation System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12 — Movie Recommendation System</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12</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2 — RUTU VAGHAISYA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24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Our recommendations use content-based filtering. TF-IDF converts movie text such as description and genre into numerical features, and cosine similarity compares them. Confirmed bookings and ratings are also weighted to produce more personalized movie suggestions.</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Frontend &amp; Admin Dashboard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13 — Frontend &amp; Admin Dashboard</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13</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2 — RUTU VAGHAISYA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20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We designed the screens in Figma and implemented the actual frontend with HTML, CSS, Bootstrap and JavaScript. Customers can book, cancel and review movies. The admin can manage movies and shows, and view revenue and booking analytics using Chart.js.</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Testing &amp; Results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14 — Testing &amp; Results</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14</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2 — RUTU VAGHAISYA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23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We tested registration, booking, pricing, payments and cancellation. Postman was used to send a JSON POST request to the registration route, and the test passed. In MySQL Workbench we verified the forty-percent occupancy and two-hundred-and-twenty-rupee ticket price.</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Applications, Limitations &amp; Future Scope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15 — Applications, Limitations &amp; Future Scope</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15</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2 — RUTU VAGHAISYA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19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This can be adapted for small cinemas or college screening events. Currently payments and refunds are simulated, and recommendations depend on available data. Future improvements include real payment integration, expiring unpaid seat holds, better recommendations and online deployment.</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Next slide: Conclusion &amp; References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73736" y="173736"/>
            <a:ext cx="1069848" cy="1069848"/>
          </a:xfrm>
          <a:prstGeom prst="rect">
            <a:avLst/>
          </a:prstGeom>
        </p:spPr>
      </p:pic>
      <p:sp>
        <p:nvSpPr>
          <p:cNvPr id="3" name="TextBox 2"/>
          <p:cNvSpPr txBox="1"/>
          <p:nvPr/>
        </p:nvSpPr>
        <p:spPr>
          <a:xfrm>
            <a:off x="1463040" y="347472"/>
            <a:ext cx="7370064" cy="548640"/>
          </a:xfrm>
          <a:prstGeom prst="rect">
            <a:avLst/>
          </a:prstGeom>
          <a:noFill/>
        </p:spPr>
        <p:txBody>
          <a:bodyPr wrap="square" lIns="36576" rIns="36576" tIns="36576" bIns="18288" anchor="t">
            <a:spAutoFit/>
          </a:bodyPr>
          <a:lstStyle/>
          <a:p>
            <a:pPr algn="l">
              <a:spcBef>
                <a:spcPts val="0"/>
              </a:spcBef>
              <a:spcAft>
                <a:spcPts val="0"/>
              </a:spcAft>
              <a:defRPr sz="2300" b="0" i="0">
                <a:solidFill>
                  <a:srgbClr val="5E5E60"/>
                </a:solidFill>
                <a:latin typeface="Arial"/>
              </a:defRPr>
            </a:pPr>
            <a:r>
              <a:t>Slide 16 — Conclusion &amp; References</a:t>
            </a:r>
          </a:p>
        </p:txBody>
      </p:sp>
      <p:cxnSp>
        <p:nvCxnSpPr>
          <p:cNvPr id="4" name="Connector 3"/>
          <p:cNvCxnSpPr/>
          <p:nvPr/>
        </p:nvCxnSpPr>
        <p:spPr>
          <a:xfrm>
            <a:off x="1508760" y="1033271"/>
            <a:ext cx="7150608" cy="0"/>
          </a:xfrm>
          <a:prstGeom prst="line">
            <a:avLst/>
          </a:prstGeom>
          <a:ln w="19050">
            <a:solidFill>
              <a:srgbClr val="D94410"/>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146304" y="6272784"/>
            <a:ext cx="448056" cy="448056"/>
          </a:xfrm>
          <a:prstGeom prst="ellipse">
            <a:avLst/>
          </a:prstGeom>
          <a:solidFill>
            <a:srgbClr val="D944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46304" y="6281928"/>
            <a:ext cx="448056" cy="338328"/>
          </a:xfrm>
          <a:prstGeom prst="rect">
            <a:avLst/>
          </a:prstGeom>
          <a:noFill/>
        </p:spPr>
        <p:txBody>
          <a:bodyPr wrap="square" lIns="36576" rIns="36576" tIns="36576" bIns="18288" anchor="t">
            <a:spAutoFit/>
          </a:bodyPr>
          <a:lstStyle/>
          <a:p>
            <a:pPr algn="ctr">
              <a:spcBef>
                <a:spcPts val="0"/>
              </a:spcBef>
              <a:spcAft>
                <a:spcPts val="0"/>
              </a:spcAft>
              <a:defRPr sz="1300" b="1" i="0">
                <a:solidFill>
                  <a:srgbClr val="FFFFFF"/>
                </a:solidFill>
                <a:latin typeface="Arial"/>
              </a:defRPr>
            </a:pPr>
            <a:r>
              <a:t>16</a:t>
            </a:r>
          </a:p>
        </p:txBody>
      </p:sp>
      <p:sp>
        <p:nvSpPr>
          <p:cNvPr id="7" name="TextBox 6"/>
          <p:cNvSpPr txBox="1"/>
          <p:nvPr/>
        </p:nvSpPr>
        <p:spPr>
          <a:xfrm>
            <a:off x="960120" y="6345936"/>
            <a:ext cx="6126480" cy="256032"/>
          </a:xfrm>
          <a:prstGeom prst="rect">
            <a:avLst/>
          </a:prstGeom>
          <a:noFill/>
        </p:spPr>
        <p:txBody>
          <a:bodyPr wrap="square" lIns="36576" rIns="36576" tIns="36576" bIns="18288" anchor="t">
            <a:spAutoFit/>
          </a:bodyPr>
          <a:lstStyle/>
          <a:p>
            <a:pPr algn="l">
              <a:spcBef>
                <a:spcPts val="0"/>
              </a:spcBef>
              <a:spcAft>
                <a:spcPts val="0"/>
              </a:spcAft>
              <a:defRPr sz="1000" b="0" i="0">
                <a:solidFill>
                  <a:srgbClr val="5D646E"/>
                </a:solidFill>
                <a:latin typeface="Arial"/>
              </a:defRPr>
            </a:pPr>
            <a:r>
              <a:t>Speaker-wise practice copy • MIT-WPU DBMS PBL</a:t>
            </a:r>
          </a:p>
        </p:txBody>
      </p:sp>
      <p:sp>
        <p:nvSpPr>
          <p:cNvPr id="8" name="TextBox 7"/>
          <p:cNvSpPr txBox="1"/>
          <p:nvPr/>
        </p:nvSpPr>
        <p:spPr>
          <a:xfrm>
            <a:off x="7726679" y="6345936"/>
            <a:ext cx="914400" cy="256032"/>
          </a:xfrm>
          <a:prstGeom prst="rect">
            <a:avLst/>
          </a:prstGeom>
          <a:noFill/>
        </p:spPr>
        <p:txBody>
          <a:bodyPr wrap="square" lIns="36576" rIns="36576" tIns="36576" bIns="18288" anchor="t">
            <a:spAutoFit/>
          </a:bodyPr>
          <a:lstStyle/>
          <a:p>
            <a:pPr algn="r">
              <a:spcBef>
                <a:spcPts val="0"/>
              </a:spcBef>
              <a:spcAft>
                <a:spcPts val="0"/>
              </a:spcAft>
              <a:defRPr sz="1000" b="0" i="0">
                <a:solidFill>
                  <a:srgbClr val="5D646E"/>
                </a:solidFill>
                <a:latin typeface="Arial"/>
              </a:defRPr>
            </a:pPr>
            <a:r>
              <a:t>12/10/2026</a:t>
            </a:r>
          </a:p>
        </p:txBody>
      </p:sp>
      <p:sp>
        <p:nvSpPr>
          <p:cNvPr id="9" name="Rounded Rectangle 8"/>
          <p:cNvSpPr/>
          <p:nvPr/>
        </p:nvSpPr>
        <p:spPr>
          <a:xfrm>
            <a:off x="649224" y="1280160"/>
            <a:ext cx="3968496" cy="347472"/>
          </a:xfrm>
          <a:prstGeom prst="roundRect">
            <a:avLst/>
          </a:prstGeom>
          <a:solidFill>
            <a:srgbClr val="FEF5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289304"/>
            <a:ext cx="3968496" cy="329184"/>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D94410"/>
                </a:solidFill>
                <a:latin typeface="Arial"/>
              </a:defRPr>
            </a:pPr>
            <a:r>
              <a:t>SPEAKER 2 — RUTU VAGHAISYA</a:t>
            </a:r>
          </a:p>
        </p:txBody>
      </p:sp>
      <p:sp>
        <p:nvSpPr>
          <p:cNvPr id="11" name="Rounded Rectangle 10"/>
          <p:cNvSpPr/>
          <p:nvPr/>
        </p:nvSpPr>
        <p:spPr>
          <a:xfrm>
            <a:off x="6867144" y="1289304"/>
            <a:ext cx="1627632" cy="338328"/>
          </a:xfrm>
          <a:prstGeom prst="roundRect">
            <a:avLst/>
          </a:prstGeom>
          <a:solidFill>
            <a:srgbClr val="F6F7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67144" y="1298448"/>
            <a:ext cx="1627632" cy="320040"/>
          </a:xfrm>
          <a:prstGeom prst="rect">
            <a:avLst/>
          </a:prstGeom>
          <a:noFill/>
        </p:spPr>
        <p:txBody>
          <a:bodyPr wrap="square" lIns="36576" rIns="36576" tIns="36576" bIns="18288" anchor="ctr">
            <a:spAutoFit/>
          </a:bodyPr>
          <a:lstStyle/>
          <a:p>
            <a:pPr algn="ctr">
              <a:spcBef>
                <a:spcPts val="0"/>
              </a:spcBef>
              <a:spcAft>
                <a:spcPts val="0"/>
              </a:spcAft>
              <a:defRPr sz="1200" b="1" i="0">
                <a:solidFill>
                  <a:srgbClr val="5D646E"/>
                </a:solidFill>
                <a:latin typeface="Arial"/>
              </a:defRPr>
            </a:pPr>
            <a:r>
              <a:t>11 SECONDS</a:t>
            </a:r>
          </a:p>
        </p:txBody>
      </p:sp>
      <p:sp>
        <p:nvSpPr>
          <p:cNvPr id="13" name="Rounded Rectangle 12"/>
          <p:cNvSpPr/>
          <p:nvPr/>
        </p:nvSpPr>
        <p:spPr>
          <a:xfrm>
            <a:off x="667512" y="1901952"/>
            <a:ext cx="7818120" cy="3502152"/>
          </a:xfrm>
          <a:prstGeom prst="roundRect">
            <a:avLst/>
          </a:prstGeom>
          <a:solidFill>
            <a:srgbClr val="F6F7F8"/>
          </a:solidFill>
          <a:ln w="8890">
            <a:solidFill>
              <a:srgbClr val="E2E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2130552"/>
            <a:ext cx="7178040" cy="402336"/>
          </a:xfrm>
          <a:prstGeom prst="rect">
            <a:avLst/>
          </a:prstGeom>
          <a:noFill/>
        </p:spPr>
        <p:txBody>
          <a:bodyPr wrap="square" lIns="36576" rIns="36576" tIns="36576" bIns="18288" anchor="t">
            <a:spAutoFit/>
          </a:bodyPr>
          <a:lstStyle/>
          <a:p>
            <a:pPr algn="l">
              <a:spcBef>
                <a:spcPts val="0"/>
              </a:spcBef>
              <a:spcAft>
                <a:spcPts val="0"/>
              </a:spcAft>
              <a:defRPr sz="1700" b="1" i="0">
                <a:solidFill>
                  <a:srgbClr val="D94410"/>
                </a:solidFill>
                <a:latin typeface="Arial"/>
              </a:defRPr>
            </a:pPr>
            <a:r>
              <a:t>WHAT TO SAY</a:t>
            </a:r>
          </a:p>
        </p:txBody>
      </p:sp>
      <p:sp>
        <p:nvSpPr>
          <p:cNvPr id="15" name="TextBox 14"/>
          <p:cNvSpPr txBox="1"/>
          <p:nvPr/>
        </p:nvSpPr>
        <p:spPr>
          <a:xfrm>
            <a:off x="923544" y="2697480"/>
            <a:ext cx="7269480" cy="2487168"/>
          </a:xfrm>
          <a:prstGeom prst="rect">
            <a:avLst/>
          </a:prstGeom>
          <a:noFill/>
        </p:spPr>
        <p:txBody>
          <a:bodyPr wrap="square" lIns="36576" rIns="36576" tIns="36576" bIns="18288" anchor="t">
            <a:spAutoFit/>
          </a:bodyPr>
          <a:lstStyle/>
          <a:p>
            <a:pPr algn="l">
              <a:spcBef>
                <a:spcPts val="0"/>
              </a:spcBef>
              <a:spcAft>
                <a:spcPts val="0"/>
              </a:spcAft>
              <a:defRPr sz="1900" b="0" i="0">
                <a:solidFill>
                  <a:srgbClr val="27313D"/>
                </a:solidFill>
                <a:latin typeface="Arial"/>
              </a:defRPr>
            </a:pPr>
            <a:r>
              <a:t>To conclude, our system combines normalized database design with booking, dynamic pricing, recommendations and administration. It helped us apply real DBMS concepts using Flask and MySQL. Thank you; we are ready for your questions.</a:t>
            </a:r>
          </a:p>
        </p:txBody>
      </p:sp>
      <p:sp>
        <p:nvSpPr>
          <p:cNvPr id="16" name="TextBox 15"/>
          <p:cNvSpPr txBox="1"/>
          <p:nvPr/>
        </p:nvSpPr>
        <p:spPr>
          <a:xfrm>
            <a:off x="896112" y="5614416"/>
            <a:ext cx="7379208" cy="329184"/>
          </a:xfrm>
          <a:prstGeom prst="rect">
            <a:avLst/>
          </a:prstGeom>
          <a:noFill/>
        </p:spPr>
        <p:txBody>
          <a:bodyPr wrap="square" lIns="36576" rIns="36576" tIns="36576" bIns="18288" anchor="t">
            <a:spAutoFit/>
          </a:bodyPr>
          <a:lstStyle/>
          <a:p>
            <a:pPr algn="ctr">
              <a:spcBef>
                <a:spcPts val="0"/>
              </a:spcBef>
              <a:spcAft>
                <a:spcPts val="0"/>
              </a:spcAft>
              <a:defRPr sz="1200" b="0" i="0">
                <a:solidFill>
                  <a:srgbClr val="5D646E"/>
                </a:solidFill>
                <a:latin typeface="Arial"/>
              </a:defRPr>
            </a:pPr>
            <a:r>
              <a:t>End: Thank the examiners and invite questions.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Equity</Template>
  <TotalTime>68</TotalTime>
  <Words>196</Words>
  <Application>Microsoft Office PowerPoint</Application>
  <PresentationFormat>On-screen Show (4:3)</PresentationFormat>
  <Paragraphs>50</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Calibri</vt:lpstr>
      <vt:lpstr>Franklin Gothic Book</vt:lpstr>
      <vt:lpstr>Perpetua</vt:lpstr>
      <vt:lpstr>Times New Roman</vt:lpstr>
      <vt:lpstr>Wingdings 2</vt:lpstr>
      <vt:lpstr>Equity</vt:lpstr>
      <vt:lpstr>Project Title</vt:lpstr>
      <vt:lpstr>Presentation flow</vt:lpstr>
      <vt:lpstr> </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Midterm Presentation  on  “Project Title”</dc:title>
  <dc:creator>Vrushali</dc:creator>
  <cp:lastModifiedBy>Vibha Patel</cp:lastModifiedBy>
  <cp:revision>25</cp:revision>
  <dcterms:created xsi:type="dcterms:W3CDTF">2006-08-16T00:00:00Z</dcterms:created>
  <dcterms:modified xsi:type="dcterms:W3CDTF">2025-09-05T10:33:42Z</dcterms:modified>
</cp:coreProperties>
</file>