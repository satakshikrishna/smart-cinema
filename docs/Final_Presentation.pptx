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7"/>
  </p:notesMasterIdLst>
  <p:sldIdLst>
    <p:sldId id="256" r:id="rId6"/>
    <p:sldId id="257" r:id="rId5"/>
    <p:sldId id="258" r:id="rId4"/>
    <p:sldId id="259" r:id="rId3"/>
    <p:sldId id="260" r:id="rId2"/>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57A213-BE6B-43C7-B1FE-AADA6081DE38}" type="datetimeFigureOut">
              <a:rPr lang="en-US" smtClean="0"/>
              <a:t>9/5/2025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962463-EC55-413E-926C-081D28A3F7DD}" type="slidenum">
              <a:rPr lang="en-US" smtClean="0"/>
              <a:t>‹#›</a:t>
            </a:fld>
            <a:endParaRPr lang="en-US"/>
          </a:p>
        </p:txBody>
      </p:sp>
    </p:spTree>
    <p:extLst>
      <p:ext uri="{BB962C8B-B14F-4D97-AF65-F5344CB8AC3E}">
        <p14:creationId xmlns:p14="http://schemas.microsoft.com/office/powerpoint/2010/main" val="145099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Project Introduction</a:t>
            </a:r>
          </a:p>
          <a:p>
            <a:r>
              <a:t>SPEAKER: Satakshi Krishna</a:t>
            </a:r>
          </a:p>
          <a:p>
            <a:r>
              <a:t>SUGGESTED TIME: 10 seconds</a:t>
            </a:r>
          </a:p>
          <a:p/>
          <a:p>
            <a:r>
              <a:t>WHAT TO SAY:</a:t>
            </a:r>
          </a:p>
          <a:p>
            <a:r>
              <a:t>Good morning respected teachers. We are Satakshi Krishna and Rutu Vaghaisya. Our DBMS project is Smart Cinema Management, Dynamic Pricing and Movie Recommendation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Presentation Flow</a:t>
            </a:r>
          </a:p>
          <a:p>
            <a:r>
              <a:t>SPEAKER: Satakshi Krishna</a:t>
            </a:r>
          </a:p>
          <a:p>
            <a:r>
              <a:t>SUGGESTED TIME: 7 seconds</a:t>
            </a:r>
          </a:p>
          <a:p/>
          <a:p>
            <a:r>
              <a:t>WHAT TO SAY:</a:t>
            </a:r>
          </a:p>
          <a:p>
            <a:r>
              <a:t>We will cover the problem, objectives, technologies, database design, booking process, pricing and recommendations, followed by implementation, testing and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Introduction &amp; Problem Statement</a:t>
            </a:r>
          </a:p>
          <a:p>
            <a:r>
              <a:t>SPEAKER: Satakshi Krishna</a:t>
            </a:r>
          </a:p>
          <a:p>
            <a:r>
              <a:t>SUGGESTED TIME: 18 seconds</a:t>
            </a:r>
          </a:p>
          <a:p/>
          <a:p>
            <a:r>
              <a:t>WHAT TO SAY:</a:t>
            </a:r>
          </a:p>
          <a:p>
            <a:r>
              <a:t>Cinema booking needs accurate handling of show schedules, seats and payments. Separate or manual records can lead to duplicated information and booking errors. Our project brings these tasks into one database-driven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Project Aims &amp; Objectives</a:t>
            </a:r>
          </a:p>
          <a:p>
            <a:r>
              <a:t>SPEAKER: Satakshi Krishna</a:t>
            </a:r>
          </a:p>
          <a:p>
            <a:r>
              <a:t>SUGGESTED TIME: 18 seconds</a:t>
            </a:r>
          </a:p>
          <a:p/>
          <a:p>
            <a:r>
              <a:t>WHAT TO SAY:</a:t>
            </a:r>
          </a:p>
          <a:p>
            <a:r>
              <a:t>Our aim is to build a cinema booking system using a normalized MySQL database. We focus on accurate seat reservations, rule-based dynamic pricing, customer recommendations, and a separate admin dashboard.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Background &amp; Proposed System</a:t>
            </a:r>
          </a:p>
          <a:p>
            <a:r>
              <a:t>SPEAKER: Satakshi Krishna</a:t>
            </a:r>
          </a:p>
          <a:p>
            <a:r>
              <a:t>SUGGESTED TIME: 18 seconds</a:t>
            </a:r>
          </a:p>
          <a:p/>
          <a:p>
            <a:r>
              <a:t>WHAT TO SAY:</a:t>
            </a:r>
          </a:p>
          <a:p>
            <a:r>
              <a:t>Traditional or disconnected systems may make availability checking, cancellation and reporting difficult. Our proposed system links customer booking, payments, refunds, movie reviews and administration through one Flask application and database.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Software Requirements &amp; Tools</a:t>
            </a:r>
          </a:p>
          <a:p>
            <a:r>
              <a:t>SPEAKER: Satakshi Krishna</a:t>
            </a:r>
          </a:p>
          <a:p>
            <a:r>
              <a:t>SUGGESTED TIME: 18 seconds</a:t>
            </a:r>
          </a:p>
          <a:p/>
          <a:p>
            <a:r>
              <a:t>WHAT TO SAY:</a:t>
            </a:r>
          </a:p>
          <a:p>
            <a:r>
              <a:t>We used HTML, CSS, JavaScript and Bootstrap for the pages, Python Flask for the backend, and MySQL for data storage. Pandas and scikit-learn support recommendations, while Figma, Postman and GitHub support design, testing and version control.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System Design &amp; Architecture</a:t>
            </a:r>
          </a:p>
          <a:p>
            <a:r>
              <a:t>SPEAKER: Satakshi Krishna</a:t>
            </a:r>
          </a:p>
          <a:p>
            <a:r>
              <a:t>SUGGESTED TIME: 20 seconds</a:t>
            </a:r>
          </a:p>
          <a:p/>
          <a:p>
            <a:r>
              <a:t>WHAT TO SAY:</a:t>
            </a:r>
          </a:p>
          <a:p>
            <a:r>
              <a:t>The browser sends requests to Flask. Flask validates data and executes SQL using the MySQL connector. The recommendation module reads movie and user information, calculates similarity, and returns suggestions that Flask displays on the website.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ER Diagram — 13 Tables</a:t>
            </a:r>
          </a:p>
          <a:p>
            <a:r>
              <a:t>SPEAKER: Satakshi Krishna</a:t>
            </a:r>
          </a:p>
          <a:p>
            <a:r>
              <a:t>SUGGESTED TIME: 24 seconds</a:t>
            </a:r>
          </a:p>
          <a:p/>
          <a:p>
            <a:r>
              <a:t>WHAT TO SAY:</a:t>
            </a:r>
          </a:p>
          <a:p>
            <a:r>
              <a:t>Our ER diagram contains thirteen main tables. A user can make many bookings; a movie can have many shows; and a theatre can have many screens. The movie_genres table handles the many-to-many relation between movies and genres.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Schema Design &amp; DBMS Features</a:t>
            </a:r>
          </a:p>
          <a:p>
            <a:r>
              <a:t>SPEAKER: Satakshi Krishna</a:t>
            </a:r>
          </a:p>
          <a:p>
            <a:r>
              <a:t>SUGGESTED TIME: 25 seconds</a:t>
            </a:r>
          </a:p>
          <a:p/>
          <a:p>
            <a:r>
              <a:t>WHAT TO SAY:</a:t>
            </a:r>
          </a:p>
          <a:p>
            <a:r>
              <a:t>We used primary and foreign keys to link tables and normalization to avoid duplication. Transactions and a unique constraint on show ID and seat ID prevent incomplete or duplicate bookings. We also created a pricing function, payment trigger, stored procedure and ratings 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System Implementation — Booking</a:t>
            </a:r>
          </a:p>
          <a:p>
            <a:r>
              <a:t>SPEAKER: Rutu Vaghaisya</a:t>
            </a:r>
          </a:p>
          <a:p>
            <a:r>
              <a:t>SUGGESTED TIME: 22 seconds</a:t>
            </a:r>
          </a:p>
          <a:p/>
          <a:p>
            <a:r>
              <a:t>WHAT TO SAY:</a:t>
            </a:r>
          </a:p>
          <a:p>
            <a:r>
              <a:t>Now I will explain the main workflow. A customer logs in, chooses a movie and show, and selects available seats. Flask checks the seats again, creates a pending booking, and after a successful simulated payment the trigger changes its status to confirmed.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Dynamic Ticket Pricing</a:t>
            </a:r>
          </a:p>
          <a:p>
            <a:r>
              <a:t>SPEAKER: Rutu Vaghaisya</a:t>
            </a:r>
          </a:p>
          <a:p>
            <a:r>
              <a:t>SUGGESTED TIME: 23 seconds</a:t>
            </a:r>
          </a:p>
          <a:p/>
          <a:p>
            <a:r>
              <a:t>WHAT TO SAY:</a:t>
            </a:r>
          </a:p>
          <a:p>
            <a:r>
              <a:t>Our pricing function uses actual booked seats divided by total physical seats. In our tested example, four of ten seats were booked, giving forty percent occupancy. So a two-hundred-rupee base ticket increases by ten percent to two hundred and twenty rupees.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Movie Recommendation System</a:t>
            </a:r>
          </a:p>
          <a:p>
            <a:r>
              <a:t>SPEAKER: Rutu Vaghaisya</a:t>
            </a:r>
          </a:p>
          <a:p>
            <a:r>
              <a:t>SUGGESTED TIME: 24 seconds</a:t>
            </a:r>
          </a:p>
          <a:p/>
          <a:p>
            <a:r>
              <a:t>WHAT TO SAY:</a:t>
            </a:r>
          </a:p>
          <a:p>
            <a:r>
              <a:t>Our recommendations use content-based filtering. TF-IDF converts movie text such as description and genre into numerical features, and cosine similarity compares them. Confirmed bookings and ratings are also weighted to produce more personalized movie suggestions.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Frontend &amp; Admin Dashboard</a:t>
            </a:r>
          </a:p>
          <a:p>
            <a:r>
              <a:t>SPEAKER: Rutu Vaghaisya</a:t>
            </a:r>
          </a:p>
          <a:p>
            <a:r>
              <a:t>SUGGESTED TIME: 20 seconds</a:t>
            </a:r>
          </a:p>
          <a:p/>
          <a:p>
            <a:r>
              <a:t>WHAT TO SAY:</a:t>
            </a:r>
          </a:p>
          <a:p>
            <a:r>
              <a:t>We designed the screens in Figma and implemented the actual frontend with HTML, CSS, Bootstrap and JavaScript. Customers can book, cancel and review movies. The admin can manage movies and shows, and view revenue and booking analytics using Chart.js.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Testing &amp; Results</a:t>
            </a:r>
          </a:p>
          <a:p>
            <a:r>
              <a:t>SPEAKER: Rutu Vaghaisya</a:t>
            </a:r>
          </a:p>
          <a:p>
            <a:r>
              <a:t>SUGGESTED TIME: 23 seconds</a:t>
            </a:r>
          </a:p>
          <a:p/>
          <a:p>
            <a:r>
              <a:t>WHAT TO SAY:</a:t>
            </a:r>
          </a:p>
          <a:p>
            <a:r>
              <a:t>We tested registration, booking, pricing, payments and cancellation. Postman was used to send a JSON POST request to the registration route, and the test passed. In MySQL Workbench we verified the forty-percent occupancy and two-hundred-and-twenty-rupee ticket price.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Applications, Limitations &amp; Future Scope</a:t>
            </a:r>
          </a:p>
          <a:p>
            <a:r>
              <a:t>SPEAKER: Rutu Vaghaisya</a:t>
            </a:r>
          </a:p>
          <a:p>
            <a:r>
              <a:t>SUGGESTED TIME: 19 seconds</a:t>
            </a:r>
          </a:p>
          <a:p/>
          <a:p>
            <a:r>
              <a:t>WHAT TO SAY:</a:t>
            </a:r>
          </a:p>
          <a:p>
            <a:r>
              <a:t>This can be adapted for small cinemas or college screening events. Currently payments and refunds are simulated, and recommendations depend on available data. Future improvements include real payment integration, expiring unpaid seat holds, better recommendations and online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Conclusion &amp; References</a:t>
            </a:r>
          </a:p>
          <a:p>
            <a:r>
              <a:t>SPEAKER: Rutu Vaghaisya</a:t>
            </a:r>
          </a:p>
          <a:p>
            <a:r>
              <a:t>SUGGESTED TIME: 11 seconds</a:t>
            </a:r>
          </a:p>
          <a:p/>
          <a:p>
            <a:r>
              <a:t>WHAT TO SAY:</a:t>
            </a:r>
          </a:p>
          <a:p>
            <a:r>
              <a:t>To conclude, our system combines normalized database design with booking, dynamic pricing, recommendations and administration. It helped us apply real DBMS concepts using Flask and MySQL. Thank you; we are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E710ACA-83A2-4DA3-93B6-E68125FA916E}" type="datetime1">
              <a:rPr lang="en-US" smtClean="0"/>
              <a:t>9/5/2025</a:t>
            </a:fld>
            <a:endParaRPr lang="en-US"/>
          </a:p>
        </p:txBody>
      </p:sp>
      <p:sp>
        <p:nvSpPr>
          <p:cNvPr id="17" name="Footer Placeholder 16"/>
          <p:cNvSpPr>
            <a:spLocks noGrp="1"/>
          </p:cNvSpPr>
          <p:nvPr>
            <p:ph type="ftr" sz="quarter" idx="11"/>
          </p:nvPr>
        </p:nvSpPr>
        <p:spPr/>
        <p:txBody>
          <a:bodyPr/>
          <a:lstStyle/>
          <a:p>
            <a:r>
              <a:rPr lang="en-US"/>
              <a:t>Department of Electrical and Electronics Engineering</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8A17782-1209-4799-A160-B341E473A7CD}" type="datetime1">
              <a:rPr lang="en-US" smtClean="0"/>
              <a:t>9/5/2025</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88CA135-9B52-424F-9138-6CFF67B8E8AC}" type="datetime1">
              <a:rPr lang="en-US" smtClean="0"/>
              <a:t>9/5/2025</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Department of Electrical and Electronics Engineering</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441A7F9-CCB1-40D1-B9CC-0E17368C26D2}" type="datetime1">
              <a:rPr lang="en-US" smtClean="0"/>
              <a:t>9/5/2025</a:t>
            </a:fld>
            <a:endParaRPr lang="en-US"/>
          </a:p>
        </p:txBody>
      </p:sp>
      <p:sp>
        <p:nvSpPr>
          <p:cNvPr id="6" name="Footer Placeholder 5"/>
          <p:cNvSpPr>
            <a:spLocks noGrp="1"/>
          </p:cNvSpPr>
          <p:nvPr>
            <p:ph type="ftr" sz="quarter" idx="11"/>
          </p:nvPr>
        </p:nvSpPr>
        <p:spPr/>
        <p:txBody>
          <a:bodyPr/>
          <a:lstStyle/>
          <a:p>
            <a:r>
              <a:rPr lang="en-US"/>
              <a:t>Department of Electrical and Electronics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C18F5563-252C-4B1A-A2FF-CA8FA2FDE506}" type="datetime1">
              <a:rPr lang="en-US" smtClean="0"/>
              <a:t>9/5/2025</a:t>
            </a:fld>
            <a:endParaRPr lang="en-US"/>
          </a:p>
        </p:txBody>
      </p:sp>
      <p:sp>
        <p:nvSpPr>
          <p:cNvPr id="8" name="Footer Placeholder 7"/>
          <p:cNvSpPr>
            <a:spLocks noGrp="1"/>
          </p:cNvSpPr>
          <p:nvPr>
            <p:ph type="ftr" sz="quarter" idx="11"/>
          </p:nvPr>
        </p:nvSpPr>
        <p:spPr/>
        <p:txBody>
          <a:bodyPr/>
          <a:lstStyle/>
          <a:p>
            <a:r>
              <a:rPr lang="en-US"/>
              <a:t>Department of Electrical and Electronics Engineering</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064672-CBD2-4792-B35D-D986D8EA46BE}" type="datetime1">
              <a:rPr lang="en-US" smtClean="0"/>
              <a:t>9/5/2025</a:t>
            </a:fld>
            <a:endParaRPr lang="en-US"/>
          </a:p>
        </p:txBody>
      </p:sp>
      <p:sp>
        <p:nvSpPr>
          <p:cNvPr id="4" name="Footer Placeholder 3"/>
          <p:cNvSpPr>
            <a:spLocks noGrp="1"/>
          </p:cNvSpPr>
          <p:nvPr>
            <p:ph type="ftr" sz="quarter" idx="11"/>
          </p:nvPr>
        </p:nvSpPr>
        <p:spPr/>
        <p:txBody>
          <a:bodyPr/>
          <a:lstStyle/>
          <a:p>
            <a:r>
              <a:rPr lang="en-US"/>
              <a:t>Department of Electrical and Electronics Engineering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772B42-BB0F-498C-9EC8-BDFA99A52050}" type="datetime1">
              <a:rPr lang="en-US" smtClean="0"/>
              <a:t>9/5/2025</a:t>
            </a:fld>
            <a:endParaRPr lang="en-US"/>
          </a:p>
        </p:txBody>
      </p:sp>
      <p:sp>
        <p:nvSpPr>
          <p:cNvPr id="3" name="Footer Placeholder 2"/>
          <p:cNvSpPr>
            <a:spLocks noGrp="1"/>
          </p:cNvSpPr>
          <p:nvPr>
            <p:ph type="ftr" sz="quarter" idx="11"/>
          </p:nvPr>
        </p:nvSpPr>
        <p:spPr/>
        <p:txBody>
          <a:bodyPr/>
          <a:lstStyle/>
          <a:p>
            <a:r>
              <a:rPr lang="en-US"/>
              <a:t>Department of Electrical and Electronics Engineering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B5E85A-AB81-4DA3-BDE5-91D5E74BA487}" type="datetime1">
              <a:rPr lang="en-US" smtClean="0"/>
              <a:t>9/5/2025</a:t>
            </a:fld>
            <a:endParaRPr lang="en-US"/>
          </a:p>
        </p:txBody>
      </p:sp>
      <p:sp>
        <p:nvSpPr>
          <p:cNvPr id="6" name="Footer Placeholder 5"/>
          <p:cNvSpPr>
            <a:spLocks noGrp="1"/>
          </p:cNvSpPr>
          <p:nvPr>
            <p:ph type="ftr" sz="quarter" idx="11"/>
          </p:nvPr>
        </p:nvSpPr>
        <p:spPr/>
        <p:txBody>
          <a:bodyPr/>
          <a:lstStyle/>
          <a:p>
            <a:r>
              <a:rPr lang="en-US"/>
              <a:t>Department of Electrical and Electronics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D4A742F-05D3-46D5-ABB2-2FA098C4F8D5}" type="datetime1">
              <a:rPr lang="en-US" smtClean="0"/>
              <a:t>9/5/2025</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Department of Electrical and Electronics Engineering</a:t>
            </a:r>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BA5E980-1C1E-4513-85B5-75C020A35D3D}" type="datetime1">
              <a:rPr lang="en-US" smtClean="0"/>
              <a:t>9/5/2025</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6BA1640-484D-4D57-A6EC-A09247DA6DEF}" type="datetime1">
              <a:rPr lang="en-US" smtClean="0"/>
              <a:t>9/5/2025</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A2D738C1-5CA4-4D62-9FF9-A967F33B25BD}" type="datetime1">
              <a:rPr lang="en-US" smtClean="0"/>
              <a:t>9/5/2025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Department of Electrical and Electronics Engineering</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19456" y="201168"/>
            <a:ext cx="1051560" cy="1051560"/>
          </a:xfrm>
          <a:prstGeom prst="rect">
            <a:avLst/>
          </a:prstGeom>
        </p:spPr>
      </p:pic>
      <p:sp>
        <p:nvSpPr>
          <p:cNvPr id="3" name="TextBox 2"/>
          <p:cNvSpPr txBox="1"/>
          <p:nvPr/>
        </p:nvSpPr>
        <p:spPr>
          <a:xfrm>
            <a:off x="2331720" y="301752"/>
            <a:ext cx="4663440" cy="438912"/>
          </a:xfrm>
          <a:prstGeom prst="rect">
            <a:avLst/>
          </a:prstGeom>
          <a:noFill/>
        </p:spPr>
        <p:txBody>
          <a:bodyPr wrap="square" lIns="36576" rIns="36576" tIns="36576" bIns="18288" anchor="t">
            <a:spAutoFit/>
          </a:bodyPr>
          <a:lstStyle/>
          <a:p>
            <a:pPr algn="ctr">
              <a:spcBef>
                <a:spcPts val="0"/>
              </a:spcBef>
              <a:spcAft>
                <a:spcPts val="0"/>
              </a:spcAft>
              <a:defRPr sz="2700" b="1" i="0">
                <a:solidFill>
                  <a:srgbClr val="5D646E"/>
                </a:solidFill>
                <a:latin typeface="Arial"/>
              </a:defRPr>
            </a:pPr>
            <a:r>
              <a:t>TY ECE AIML A</a:t>
            </a:r>
          </a:p>
        </p:txBody>
      </p:sp>
      <p:sp>
        <p:nvSpPr>
          <p:cNvPr id="4" name="Rectangle 3"/>
          <p:cNvSpPr/>
          <p:nvPr/>
        </p:nvSpPr>
        <p:spPr>
          <a:xfrm>
            <a:off x="73152" y="1508760"/>
            <a:ext cx="8997696" cy="1572768"/>
          </a:xfrm>
          <a:prstGeom prst="rect">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9768" y="1719072"/>
            <a:ext cx="8257031" cy="1170432"/>
          </a:xfrm>
          <a:prstGeom prst="rect">
            <a:avLst/>
          </a:prstGeom>
          <a:noFill/>
        </p:spPr>
        <p:txBody>
          <a:bodyPr wrap="square" lIns="36576" rIns="36576" tIns="36576" bIns="18288" anchor="ctr">
            <a:spAutoFit/>
          </a:bodyPr>
          <a:lstStyle/>
          <a:p>
            <a:pPr algn="ctr">
              <a:spcBef>
                <a:spcPts val="0"/>
              </a:spcBef>
              <a:spcAft>
                <a:spcPts val="0"/>
              </a:spcAft>
              <a:defRPr sz="2500" b="1" i="0">
                <a:solidFill>
                  <a:srgbClr val="FFFFFF"/>
                </a:solidFill>
                <a:latin typeface="Arial"/>
              </a:defRPr>
            </a:pPr>
            <a:r>
              <a:t>SMART CINEMA MANAGEMENT,</a:t>
            </a:r>
          </a:p>
          <a:p>
            <a:pPr algn="ctr">
              <a:spcBef>
                <a:spcPts val="0"/>
              </a:spcBef>
              <a:spcAft>
                <a:spcPts val="0"/>
              </a:spcAft>
              <a:defRPr sz="2500" b="1" i="0">
                <a:solidFill>
                  <a:srgbClr val="FFFFFF"/>
                </a:solidFill>
                <a:latin typeface="Arial"/>
              </a:defRPr>
            </a:pPr>
            <a:r>
              <a:t>DYNAMIC PRICING &amp; MOVIE RECOMMENDATION SYSTEM</a:t>
            </a:r>
          </a:p>
        </p:txBody>
      </p:sp>
      <p:sp>
        <p:nvSpPr>
          <p:cNvPr id="6" name="TextBox 5"/>
          <p:cNvSpPr txBox="1"/>
          <p:nvPr/>
        </p:nvSpPr>
        <p:spPr>
          <a:xfrm>
            <a:off x="914400" y="3456432"/>
            <a:ext cx="7315200" cy="402336"/>
          </a:xfrm>
          <a:prstGeom prst="rect">
            <a:avLst/>
          </a:prstGeom>
          <a:noFill/>
        </p:spPr>
        <p:txBody>
          <a:bodyPr wrap="square" lIns="36576" rIns="36576" tIns="36576" bIns="18288" anchor="t">
            <a:spAutoFit/>
          </a:bodyPr>
          <a:lstStyle/>
          <a:p>
            <a:pPr algn="ctr">
              <a:spcBef>
                <a:spcPts val="0"/>
              </a:spcBef>
              <a:spcAft>
                <a:spcPts val="0"/>
              </a:spcAft>
              <a:defRPr sz="2100" b="1" i="0">
                <a:solidFill>
                  <a:srgbClr val="5D646E"/>
                </a:solidFill>
                <a:latin typeface="Arial"/>
              </a:defRPr>
            </a:pPr>
            <a:r>
              <a:t>Course: Database Management System</a:t>
            </a:r>
          </a:p>
        </p:txBody>
      </p:sp>
      <p:sp>
        <p:nvSpPr>
          <p:cNvPr id="7" name="TextBox 6"/>
          <p:cNvSpPr txBox="1"/>
          <p:nvPr/>
        </p:nvSpPr>
        <p:spPr>
          <a:xfrm>
            <a:off x="914400" y="4169663"/>
            <a:ext cx="7315200" cy="256032"/>
          </a:xfrm>
          <a:prstGeom prst="rect">
            <a:avLst/>
          </a:prstGeom>
          <a:noFill/>
        </p:spPr>
        <p:txBody>
          <a:bodyPr wrap="square" lIns="36576" rIns="36576" tIns="36576" bIns="18288" anchor="t">
            <a:spAutoFit/>
          </a:bodyPr>
          <a:lstStyle/>
          <a:p>
            <a:pPr algn="ctr">
              <a:spcBef>
                <a:spcPts val="0"/>
              </a:spcBef>
              <a:spcAft>
                <a:spcPts val="0"/>
              </a:spcAft>
              <a:defRPr sz="1600" b="0" i="0">
                <a:solidFill>
                  <a:srgbClr val="5D646E"/>
                </a:solidFill>
                <a:latin typeface="Arial"/>
              </a:defRPr>
            </a:pPr>
            <a:r>
              <a:t>Presented by</a:t>
            </a:r>
          </a:p>
        </p:txBody>
      </p:sp>
      <p:sp>
        <p:nvSpPr>
          <p:cNvPr id="8" name="TextBox 7"/>
          <p:cNvSpPr txBox="1"/>
          <p:nvPr/>
        </p:nvSpPr>
        <p:spPr>
          <a:xfrm>
            <a:off x="731520" y="4572000"/>
            <a:ext cx="7680960" cy="411480"/>
          </a:xfrm>
          <a:prstGeom prst="rect">
            <a:avLst/>
          </a:prstGeom>
          <a:noFill/>
        </p:spPr>
        <p:txBody>
          <a:bodyPr wrap="square" lIns="36576" rIns="36576" tIns="36576" bIns="18288" anchor="t">
            <a:spAutoFit/>
          </a:bodyPr>
          <a:lstStyle/>
          <a:p>
            <a:pPr algn="ctr">
              <a:spcBef>
                <a:spcPts val="0"/>
              </a:spcBef>
              <a:spcAft>
                <a:spcPts val="0"/>
              </a:spcAft>
              <a:defRPr sz="1900" b="1" i="0">
                <a:solidFill>
                  <a:srgbClr val="27313D"/>
                </a:solidFill>
                <a:latin typeface="Arial"/>
              </a:defRPr>
            </a:pPr>
            <a:r>
              <a:t>Satakshi Krishna  |  Rutu Vaghaisya</a:t>
            </a:r>
          </a:p>
        </p:txBody>
      </p:sp>
      <p:sp>
        <p:nvSpPr>
          <p:cNvPr id="9" name="TextBox 8"/>
          <p:cNvSpPr txBox="1"/>
          <p:nvPr/>
        </p:nvSpPr>
        <p:spPr>
          <a:xfrm>
            <a:off x="822960" y="5102352"/>
            <a:ext cx="7498079" cy="365760"/>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Division: ____   Roll Nos.: ____ / ____   Batch: ____   PRNs: ____ / ____</a:t>
            </a:r>
          </a:p>
        </p:txBody>
      </p:sp>
      <p:sp>
        <p:nvSpPr>
          <p:cNvPr id="10" name="TextBox 9"/>
          <p:cNvSpPr txBox="1"/>
          <p:nvPr/>
        </p:nvSpPr>
        <p:spPr>
          <a:xfrm>
            <a:off x="1005840" y="6144768"/>
            <a:ext cx="7132320" cy="274320"/>
          </a:xfrm>
          <a:prstGeom prst="rect">
            <a:avLst/>
          </a:prstGeom>
          <a:noFill/>
        </p:spPr>
        <p:txBody>
          <a:bodyPr wrap="square" lIns="36576" rIns="36576" tIns="36576" bIns="18288" anchor="t">
            <a:spAutoFit/>
          </a:bodyPr>
          <a:lstStyle/>
          <a:p>
            <a:pPr algn="ctr">
              <a:spcBef>
                <a:spcPts val="0"/>
              </a:spcBef>
              <a:spcAft>
                <a:spcPts val="0"/>
              </a:spcAft>
              <a:defRPr sz="1100" b="0" i="0">
                <a:solidFill>
                  <a:srgbClr val="767E88"/>
                </a:solidFill>
                <a:latin typeface="Arial"/>
              </a:defRPr>
            </a:pPr>
            <a:r>
              <a:t>MIT World Peace University • TY ECE AIML • Academic Year 2025–26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Presentation Flow</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2</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58368" y="1490472"/>
            <a:ext cx="3767328" cy="1691640"/>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600200"/>
            <a:ext cx="3511296" cy="320040"/>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Problem &amp; Objectives</a:t>
            </a:r>
          </a:p>
        </p:txBody>
      </p:sp>
      <p:sp>
        <p:nvSpPr>
          <p:cNvPr id="11" name="TextBox 10"/>
          <p:cNvSpPr txBox="1"/>
          <p:nvPr/>
        </p:nvSpPr>
        <p:spPr>
          <a:xfrm>
            <a:off x="786384" y="1965960"/>
            <a:ext cx="3511296" cy="1143000"/>
          </a:xfrm>
          <a:prstGeom prst="rect">
            <a:avLst/>
          </a:prstGeom>
          <a:noFill/>
        </p:spPr>
        <p:txBody>
          <a:bodyPr wrap="square" lIns="36576" rIns="36576" tIns="36576" bIns="18288" anchor="t">
            <a:spAutoFit/>
          </a:bodyPr>
          <a:lstStyle/>
          <a:p>
            <a:pPr algn="l">
              <a:spcBef>
                <a:spcPts val="0"/>
              </a:spcBef>
              <a:spcAft>
                <a:spcPts val="0"/>
              </a:spcAft>
              <a:defRPr sz="1400" b="0" i="0">
                <a:solidFill>
                  <a:srgbClr val="5D646E"/>
                </a:solidFill>
                <a:latin typeface="Arial"/>
              </a:defRPr>
            </a:pPr>
            <a:r>
              <a:t>Why the system is needed</a:t>
            </a:r>
          </a:p>
        </p:txBody>
      </p:sp>
      <p:sp>
        <p:nvSpPr>
          <p:cNvPr id="12" name="Rounded Rectangle 11"/>
          <p:cNvSpPr/>
          <p:nvPr/>
        </p:nvSpPr>
        <p:spPr>
          <a:xfrm>
            <a:off x="3630168" y="1627631"/>
            <a:ext cx="484632" cy="30175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1636775"/>
            <a:ext cx="484632" cy="28346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01</a:t>
            </a:r>
          </a:p>
        </p:txBody>
      </p:sp>
      <p:sp>
        <p:nvSpPr>
          <p:cNvPr id="14" name="Rounded Rectangle 13"/>
          <p:cNvSpPr/>
          <p:nvPr/>
        </p:nvSpPr>
        <p:spPr>
          <a:xfrm>
            <a:off x="4745736" y="1490472"/>
            <a:ext cx="3767328" cy="1691640"/>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73751" y="1600200"/>
            <a:ext cx="3511296" cy="320040"/>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Architecture &amp; Database</a:t>
            </a:r>
          </a:p>
        </p:txBody>
      </p:sp>
      <p:sp>
        <p:nvSpPr>
          <p:cNvPr id="16" name="TextBox 15"/>
          <p:cNvSpPr txBox="1"/>
          <p:nvPr/>
        </p:nvSpPr>
        <p:spPr>
          <a:xfrm>
            <a:off x="4873751" y="1965960"/>
            <a:ext cx="3511296" cy="1143000"/>
          </a:xfrm>
          <a:prstGeom prst="rect">
            <a:avLst/>
          </a:prstGeom>
          <a:noFill/>
        </p:spPr>
        <p:txBody>
          <a:bodyPr wrap="square" lIns="36576" rIns="36576" tIns="36576" bIns="18288" anchor="t">
            <a:spAutoFit/>
          </a:bodyPr>
          <a:lstStyle/>
          <a:p>
            <a:pPr algn="l">
              <a:spcBef>
                <a:spcPts val="0"/>
              </a:spcBef>
              <a:spcAft>
                <a:spcPts val="0"/>
              </a:spcAft>
              <a:defRPr sz="1400" b="0" i="0">
                <a:solidFill>
                  <a:srgbClr val="5D646E"/>
                </a:solidFill>
                <a:latin typeface="Arial"/>
              </a:defRPr>
            </a:pPr>
            <a:r>
              <a:t>Flask, MySQL, ER diagram</a:t>
            </a:r>
          </a:p>
        </p:txBody>
      </p:sp>
      <p:sp>
        <p:nvSpPr>
          <p:cNvPr id="17" name="Rounded Rectangle 16"/>
          <p:cNvSpPr/>
          <p:nvPr/>
        </p:nvSpPr>
        <p:spPr>
          <a:xfrm>
            <a:off x="7717536" y="1627631"/>
            <a:ext cx="484632" cy="30175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1636775"/>
            <a:ext cx="484632" cy="28346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02</a:t>
            </a:r>
          </a:p>
        </p:txBody>
      </p:sp>
      <p:sp>
        <p:nvSpPr>
          <p:cNvPr id="19" name="Rounded Rectangle 18"/>
          <p:cNvSpPr/>
          <p:nvPr/>
        </p:nvSpPr>
        <p:spPr>
          <a:xfrm>
            <a:off x="658368" y="3502152"/>
            <a:ext cx="3767328" cy="1691640"/>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3611880"/>
            <a:ext cx="3511296" cy="320040"/>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Core Workflows</a:t>
            </a:r>
          </a:p>
        </p:txBody>
      </p:sp>
      <p:sp>
        <p:nvSpPr>
          <p:cNvPr id="21" name="TextBox 20"/>
          <p:cNvSpPr txBox="1"/>
          <p:nvPr/>
        </p:nvSpPr>
        <p:spPr>
          <a:xfrm>
            <a:off x="786384" y="3977639"/>
            <a:ext cx="3511296" cy="1143000"/>
          </a:xfrm>
          <a:prstGeom prst="rect">
            <a:avLst/>
          </a:prstGeom>
          <a:noFill/>
        </p:spPr>
        <p:txBody>
          <a:bodyPr wrap="square" lIns="36576" rIns="36576" tIns="36576" bIns="18288" anchor="t">
            <a:spAutoFit/>
          </a:bodyPr>
          <a:lstStyle/>
          <a:p>
            <a:pPr algn="l">
              <a:spcBef>
                <a:spcPts val="0"/>
              </a:spcBef>
              <a:spcAft>
                <a:spcPts val="0"/>
              </a:spcAft>
              <a:defRPr sz="1400" b="0" i="0">
                <a:solidFill>
                  <a:srgbClr val="5D646E"/>
                </a:solidFill>
                <a:latin typeface="Arial"/>
              </a:defRPr>
            </a:pPr>
            <a:r>
              <a:t>Booking, pricing, recommendations</a:t>
            </a:r>
          </a:p>
        </p:txBody>
      </p:sp>
      <p:sp>
        <p:nvSpPr>
          <p:cNvPr id="22" name="Rounded Rectangle 21"/>
          <p:cNvSpPr/>
          <p:nvPr/>
        </p:nvSpPr>
        <p:spPr>
          <a:xfrm>
            <a:off x="3630168" y="3639312"/>
            <a:ext cx="484632" cy="30175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0168" y="3648456"/>
            <a:ext cx="484632" cy="28346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03</a:t>
            </a:r>
          </a:p>
        </p:txBody>
      </p:sp>
      <p:sp>
        <p:nvSpPr>
          <p:cNvPr id="24" name="Rounded Rectangle 23"/>
          <p:cNvSpPr/>
          <p:nvPr/>
        </p:nvSpPr>
        <p:spPr>
          <a:xfrm>
            <a:off x="4745736" y="3502152"/>
            <a:ext cx="3767328" cy="1691640"/>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73751" y="3611880"/>
            <a:ext cx="3511296" cy="320040"/>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Testing &amp; Outcomes</a:t>
            </a:r>
          </a:p>
        </p:txBody>
      </p:sp>
      <p:sp>
        <p:nvSpPr>
          <p:cNvPr id="26" name="TextBox 25"/>
          <p:cNvSpPr txBox="1"/>
          <p:nvPr/>
        </p:nvSpPr>
        <p:spPr>
          <a:xfrm>
            <a:off x="4873751" y="3977639"/>
            <a:ext cx="3511296" cy="1143000"/>
          </a:xfrm>
          <a:prstGeom prst="rect">
            <a:avLst/>
          </a:prstGeom>
          <a:noFill/>
        </p:spPr>
        <p:txBody>
          <a:bodyPr wrap="square" lIns="36576" rIns="36576" tIns="36576" bIns="18288" anchor="t">
            <a:spAutoFit/>
          </a:bodyPr>
          <a:lstStyle/>
          <a:p>
            <a:pPr algn="l">
              <a:spcBef>
                <a:spcPts val="0"/>
              </a:spcBef>
              <a:spcAft>
                <a:spcPts val="0"/>
              </a:spcAft>
              <a:defRPr sz="1400" b="0" i="0">
                <a:solidFill>
                  <a:srgbClr val="5D646E"/>
                </a:solidFill>
                <a:latin typeface="Arial"/>
              </a:defRPr>
            </a:pPr>
            <a:r>
              <a:t>Postman, SQL results, future scope</a:t>
            </a:r>
          </a:p>
        </p:txBody>
      </p:sp>
      <p:sp>
        <p:nvSpPr>
          <p:cNvPr id="27" name="Rounded Rectangle 26"/>
          <p:cNvSpPr/>
          <p:nvPr/>
        </p:nvSpPr>
        <p:spPr>
          <a:xfrm>
            <a:off x="7717536" y="3639312"/>
            <a:ext cx="484632" cy="30175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17536" y="3648456"/>
            <a:ext cx="484632" cy="28346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Introduction &amp; Problem Statement</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3</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94360" y="1243584"/>
            <a:ext cx="2240280" cy="265176"/>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52728"/>
            <a:ext cx="2240280" cy="246887"/>
          </a:xfrm>
          <a:prstGeom prst="rect">
            <a:avLst/>
          </a:prstGeom>
          <a:noFill/>
        </p:spPr>
        <p:txBody>
          <a:bodyPr wrap="square" lIns="36576" rIns="36576" tIns="36576" bIns="18288" anchor="ctr">
            <a:spAutoFit/>
          </a:bodyPr>
          <a:lstStyle/>
          <a:p>
            <a:pPr algn="ctr">
              <a:spcBef>
                <a:spcPts val="0"/>
              </a:spcBef>
              <a:spcAft>
                <a:spcPts val="0"/>
              </a:spcAft>
              <a:defRPr sz="1000" b="1" i="0">
                <a:solidFill>
                  <a:srgbClr val="D94410"/>
                </a:solidFill>
                <a:latin typeface="Arial"/>
              </a:defRPr>
            </a:pPr>
            <a:r>
              <a:t>PROJECT OVERVIEW</a:t>
            </a:r>
          </a:p>
        </p:txBody>
      </p:sp>
      <p:sp>
        <p:nvSpPr>
          <p:cNvPr id="11" name="TextBox 10"/>
          <p:cNvSpPr txBox="1"/>
          <p:nvPr/>
        </p:nvSpPr>
        <p:spPr>
          <a:xfrm>
            <a:off x="640080" y="1664208"/>
            <a:ext cx="7955279" cy="731520"/>
          </a:xfrm>
          <a:prstGeom prst="rect">
            <a:avLst/>
          </a:prstGeom>
          <a:noFill/>
        </p:spPr>
        <p:txBody>
          <a:bodyPr wrap="square" lIns="36576" rIns="36576" tIns="36576" bIns="18288" anchor="t">
            <a:spAutoFit/>
          </a:bodyPr>
          <a:lstStyle/>
          <a:p>
            <a:pPr algn="l">
              <a:spcBef>
                <a:spcPts val="0"/>
              </a:spcBef>
              <a:spcAft>
                <a:spcPts val="0"/>
              </a:spcAft>
              <a:defRPr sz="2100" b="1" i="0">
                <a:solidFill>
                  <a:srgbClr val="27313D"/>
                </a:solidFill>
                <a:latin typeface="Arial"/>
              </a:defRPr>
            </a:pPr>
            <a:r>
              <a:t>A single platform for cinema booking, smart pricing and movie discovery.</a:t>
            </a:r>
          </a:p>
        </p:txBody>
      </p:sp>
      <p:sp>
        <p:nvSpPr>
          <p:cNvPr id="12" name="Rounded Rectangle 11"/>
          <p:cNvSpPr/>
          <p:nvPr/>
        </p:nvSpPr>
        <p:spPr>
          <a:xfrm>
            <a:off x="649224" y="2660904"/>
            <a:ext cx="2542032" cy="1499616"/>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770632"/>
            <a:ext cx="2286000" cy="320040"/>
          </a:xfrm>
          <a:prstGeom prst="rect">
            <a:avLst/>
          </a:prstGeom>
          <a:noFill/>
        </p:spPr>
        <p:txBody>
          <a:bodyPr wrap="square" lIns="36576" rIns="36576" tIns="36576" bIns="18288" anchor="t">
            <a:spAutoFit/>
          </a:bodyPr>
          <a:lstStyle/>
          <a:p>
            <a:pPr algn="l">
              <a:spcBef>
                <a:spcPts val="0"/>
              </a:spcBef>
              <a:spcAft>
                <a:spcPts val="0"/>
              </a:spcAft>
              <a:defRPr sz="1400" b="1" i="0">
                <a:solidFill>
                  <a:srgbClr val="27313D"/>
                </a:solidFill>
                <a:latin typeface="Arial"/>
              </a:defRPr>
            </a:pPr>
            <a:r>
              <a:t>Booking accuracy</a:t>
            </a:r>
          </a:p>
        </p:txBody>
      </p:sp>
      <p:sp>
        <p:nvSpPr>
          <p:cNvPr id="14" name="TextBox 13"/>
          <p:cNvSpPr txBox="1"/>
          <p:nvPr/>
        </p:nvSpPr>
        <p:spPr>
          <a:xfrm>
            <a:off x="777240" y="3136392"/>
            <a:ext cx="2286000" cy="950976"/>
          </a:xfrm>
          <a:prstGeom prst="rect">
            <a:avLst/>
          </a:prstGeom>
          <a:noFill/>
        </p:spPr>
        <p:txBody>
          <a:bodyPr wrap="square" lIns="36576" rIns="36576" tIns="36576" bIns="18288" anchor="t">
            <a:spAutoFit/>
          </a:bodyPr>
          <a:lstStyle/>
          <a:p>
            <a:pPr algn="l">
              <a:spcBef>
                <a:spcPts val="0"/>
              </a:spcBef>
              <a:spcAft>
                <a:spcPts val="0"/>
              </a:spcAft>
              <a:defRPr sz="1250" b="0" i="0">
                <a:solidFill>
                  <a:srgbClr val="5D646E"/>
                </a:solidFill>
                <a:latin typeface="Arial"/>
              </a:defRPr>
            </a:pPr>
            <a:r>
              <a:t>Seat availability must be current.</a:t>
            </a:r>
          </a:p>
        </p:txBody>
      </p:sp>
      <p:sp>
        <p:nvSpPr>
          <p:cNvPr id="15" name="Rounded Rectangle 14"/>
          <p:cNvSpPr/>
          <p:nvPr/>
        </p:nvSpPr>
        <p:spPr>
          <a:xfrm>
            <a:off x="3410712" y="2660904"/>
            <a:ext cx="2542032" cy="1499616"/>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8728" y="2770632"/>
            <a:ext cx="2286000" cy="320040"/>
          </a:xfrm>
          <a:prstGeom prst="rect">
            <a:avLst/>
          </a:prstGeom>
          <a:noFill/>
        </p:spPr>
        <p:txBody>
          <a:bodyPr wrap="square" lIns="36576" rIns="36576" tIns="36576" bIns="18288" anchor="t">
            <a:spAutoFit/>
          </a:bodyPr>
          <a:lstStyle/>
          <a:p>
            <a:pPr algn="l">
              <a:spcBef>
                <a:spcPts val="0"/>
              </a:spcBef>
              <a:spcAft>
                <a:spcPts val="0"/>
              </a:spcAft>
              <a:defRPr sz="1400" b="1" i="0">
                <a:solidFill>
                  <a:srgbClr val="27313D"/>
                </a:solidFill>
                <a:latin typeface="Arial"/>
              </a:defRPr>
            </a:pPr>
            <a:r>
              <a:t>Connected records</a:t>
            </a:r>
          </a:p>
        </p:txBody>
      </p:sp>
      <p:sp>
        <p:nvSpPr>
          <p:cNvPr id="17" name="TextBox 16"/>
          <p:cNvSpPr txBox="1"/>
          <p:nvPr/>
        </p:nvSpPr>
        <p:spPr>
          <a:xfrm>
            <a:off x="3538728" y="3136392"/>
            <a:ext cx="2286000" cy="950976"/>
          </a:xfrm>
          <a:prstGeom prst="rect">
            <a:avLst/>
          </a:prstGeom>
          <a:noFill/>
        </p:spPr>
        <p:txBody>
          <a:bodyPr wrap="square" lIns="36576" rIns="36576" tIns="36576" bIns="18288" anchor="t">
            <a:spAutoFit/>
          </a:bodyPr>
          <a:lstStyle/>
          <a:p>
            <a:pPr algn="l">
              <a:spcBef>
                <a:spcPts val="0"/>
              </a:spcBef>
              <a:spcAft>
                <a:spcPts val="0"/>
              </a:spcAft>
              <a:defRPr sz="1250" b="0" i="0">
                <a:solidFill>
                  <a:srgbClr val="5D646E"/>
                </a:solidFill>
                <a:latin typeface="Arial"/>
              </a:defRPr>
            </a:pPr>
            <a:r>
              <a:t>Shows, users and payments must stay linked.</a:t>
            </a:r>
          </a:p>
        </p:txBody>
      </p:sp>
      <p:sp>
        <p:nvSpPr>
          <p:cNvPr id="18" name="Rounded Rectangle 17"/>
          <p:cNvSpPr/>
          <p:nvPr/>
        </p:nvSpPr>
        <p:spPr>
          <a:xfrm>
            <a:off x="6172200" y="2660904"/>
            <a:ext cx="2542032" cy="1499616"/>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0216" y="2770632"/>
            <a:ext cx="2286000" cy="320040"/>
          </a:xfrm>
          <a:prstGeom prst="rect">
            <a:avLst/>
          </a:prstGeom>
          <a:noFill/>
        </p:spPr>
        <p:txBody>
          <a:bodyPr wrap="square" lIns="36576" rIns="36576" tIns="36576" bIns="18288" anchor="t">
            <a:spAutoFit/>
          </a:bodyPr>
          <a:lstStyle/>
          <a:p>
            <a:pPr algn="l">
              <a:spcBef>
                <a:spcPts val="0"/>
              </a:spcBef>
              <a:spcAft>
                <a:spcPts val="0"/>
              </a:spcAft>
              <a:defRPr sz="1400" b="1" i="0">
                <a:solidFill>
                  <a:srgbClr val="27313D"/>
                </a:solidFill>
                <a:latin typeface="Arial"/>
              </a:defRPr>
            </a:pPr>
            <a:r>
              <a:t>Better user experience</a:t>
            </a:r>
          </a:p>
        </p:txBody>
      </p:sp>
      <p:sp>
        <p:nvSpPr>
          <p:cNvPr id="20" name="TextBox 19"/>
          <p:cNvSpPr txBox="1"/>
          <p:nvPr/>
        </p:nvSpPr>
        <p:spPr>
          <a:xfrm>
            <a:off x="6300216" y="3136392"/>
            <a:ext cx="2286000" cy="950976"/>
          </a:xfrm>
          <a:prstGeom prst="rect">
            <a:avLst/>
          </a:prstGeom>
          <a:noFill/>
        </p:spPr>
        <p:txBody>
          <a:bodyPr wrap="square" lIns="36576" rIns="36576" tIns="36576" bIns="18288" anchor="t">
            <a:spAutoFit/>
          </a:bodyPr>
          <a:lstStyle/>
          <a:p>
            <a:pPr algn="l">
              <a:spcBef>
                <a:spcPts val="0"/>
              </a:spcBef>
              <a:spcAft>
                <a:spcPts val="0"/>
              </a:spcAft>
              <a:defRPr sz="1250" b="0" i="0">
                <a:solidFill>
                  <a:srgbClr val="5D646E"/>
                </a:solidFill>
                <a:latin typeface="Arial"/>
              </a:defRPr>
            </a:pPr>
            <a:r>
              <a:t>Customers need clear choices and suggestions.</a:t>
            </a:r>
          </a:p>
        </p:txBody>
      </p:sp>
      <p:sp>
        <p:nvSpPr>
          <p:cNvPr id="21" name="Rounded Rectangle 20"/>
          <p:cNvSpPr/>
          <p:nvPr/>
        </p:nvSpPr>
        <p:spPr>
          <a:xfrm>
            <a:off x="676656" y="4727448"/>
            <a:ext cx="7900416" cy="658368"/>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892040"/>
            <a:ext cx="7434072" cy="292608"/>
          </a:xfrm>
          <a:prstGeom prst="rect">
            <a:avLst/>
          </a:prstGeom>
          <a:noFill/>
        </p:spPr>
        <p:txBody>
          <a:bodyPr wrap="square" lIns="36576" rIns="36576" tIns="36576" bIns="18288" anchor="t">
            <a:spAutoFit/>
          </a:bodyPr>
          <a:lstStyle/>
          <a:p>
            <a:pPr algn="ctr">
              <a:spcBef>
                <a:spcPts val="0"/>
              </a:spcBef>
              <a:spcAft>
                <a:spcPts val="0"/>
              </a:spcAft>
              <a:defRPr sz="1600" b="1" i="0">
                <a:solidFill>
                  <a:srgbClr val="D94410"/>
                </a:solidFill>
                <a:latin typeface="Arial"/>
              </a:defRPr>
            </a:pPr>
            <a:r>
              <a:t>Our solution: a Flask + MySQL system with customer and admin modules.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Project Aims &amp; Objectives</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4</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94360" y="1243584"/>
            <a:ext cx="2240280" cy="265176"/>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52728"/>
            <a:ext cx="2240280" cy="246887"/>
          </a:xfrm>
          <a:prstGeom prst="rect">
            <a:avLst/>
          </a:prstGeom>
          <a:noFill/>
        </p:spPr>
        <p:txBody>
          <a:bodyPr wrap="square" lIns="36576" rIns="36576" tIns="36576" bIns="18288" anchor="ctr">
            <a:spAutoFit/>
          </a:bodyPr>
          <a:lstStyle/>
          <a:p>
            <a:pPr algn="ctr">
              <a:spcBef>
                <a:spcPts val="0"/>
              </a:spcBef>
              <a:spcAft>
                <a:spcPts val="0"/>
              </a:spcAft>
              <a:defRPr sz="1000" b="1" i="0">
                <a:solidFill>
                  <a:srgbClr val="D94410"/>
                </a:solidFill>
                <a:latin typeface="Arial"/>
              </a:defRPr>
            </a:pPr>
            <a:r>
              <a:t>KEY GOALS</a:t>
            </a:r>
          </a:p>
        </p:txBody>
      </p:sp>
      <p:sp>
        <p:nvSpPr>
          <p:cNvPr id="11" name="Rounded Rectangle 10"/>
          <p:cNvSpPr/>
          <p:nvPr/>
        </p:nvSpPr>
        <p:spPr>
          <a:xfrm>
            <a:off x="749808" y="1636776"/>
            <a:ext cx="438912"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645920"/>
            <a:ext cx="438912"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01</a:t>
            </a:r>
          </a:p>
        </p:txBody>
      </p:sp>
      <p:sp>
        <p:nvSpPr>
          <p:cNvPr id="13" name="TextBox 12"/>
          <p:cNvSpPr txBox="1"/>
          <p:nvPr/>
        </p:nvSpPr>
        <p:spPr>
          <a:xfrm>
            <a:off x="1389888" y="1627632"/>
            <a:ext cx="2240280" cy="329184"/>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Reliable bookings</a:t>
            </a:r>
          </a:p>
        </p:txBody>
      </p:sp>
      <p:sp>
        <p:nvSpPr>
          <p:cNvPr id="14" name="TextBox 13"/>
          <p:cNvSpPr txBox="1"/>
          <p:nvPr/>
        </p:nvSpPr>
        <p:spPr>
          <a:xfrm>
            <a:off x="3749039" y="1618488"/>
            <a:ext cx="4645152" cy="457200"/>
          </a:xfrm>
          <a:prstGeom prst="rect">
            <a:avLst/>
          </a:prstGeom>
          <a:noFill/>
        </p:spPr>
        <p:txBody>
          <a:bodyPr wrap="square" lIns="36576" rIns="36576" tIns="36576" bIns="18288" anchor="t">
            <a:spAutoFit/>
          </a:bodyPr>
          <a:lstStyle/>
          <a:p>
            <a:pPr algn="l">
              <a:spcBef>
                <a:spcPts val="0"/>
              </a:spcBef>
              <a:spcAft>
                <a:spcPts val="0"/>
              </a:spcAft>
              <a:defRPr sz="1400" b="0" i="0">
                <a:solidFill>
                  <a:srgbClr val="5D646E"/>
                </a:solidFill>
                <a:latin typeface="Arial"/>
              </a:defRPr>
            </a:pPr>
            <a:r>
              <a:t>Validate seat availability and prevent duplicate reservations.</a:t>
            </a:r>
          </a:p>
        </p:txBody>
      </p:sp>
      <p:cxnSp>
        <p:nvCxnSpPr>
          <p:cNvPr id="15" name="Connector 14"/>
          <p:cNvCxnSpPr/>
          <p:nvPr/>
        </p:nvCxnSpPr>
        <p:spPr>
          <a:xfrm>
            <a:off x="768096" y="2249424"/>
            <a:ext cx="7598664" cy="0"/>
          </a:xfrm>
          <a:prstGeom prst="line">
            <a:avLst/>
          </a:prstGeom>
          <a:ln w="8890">
            <a:solidFill>
              <a:srgbClr val="E2E5E9"/>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9808" y="2459736"/>
            <a:ext cx="438912"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2468879"/>
            <a:ext cx="438912"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02</a:t>
            </a:r>
          </a:p>
        </p:txBody>
      </p:sp>
      <p:sp>
        <p:nvSpPr>
          <p:cNvPr id="18" name="TextBox 17"/>
          <p:cNvSpPr txBox="1"/>
          <p:nvPr/>
        </p:nvSpPr>
        <p:spPr>
          <a:xfrm>
            <a:off x="1389888" y="2450592"/>
            <a:ext cx="2240280" cy="329184"/>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Structured data</a:t>
            </a:r>
          </a:p>
        </p:txBody>
      </p:sp>
      <p:sp>
        <p:nvSpPr>
          <p:cNvPr id="19" name="TextBox 18"/>
          <p:cNvSpPr txBox="1"/>
          <p:nvPr/>
        </p:nvSpPr>
        <p:spPr>
          <a:xfrm>
            <a:off x="3749039" y="2441448"/>
            <a:ext cx="4645152" cy="457200"/>
          </a:xfrm>
          <a:prstGeom prst="rect">
            <a:avLst/>
          </a:prstGeom>
          <a:noFill/>
        </p:spPr>
        <p:txBody>
          <a:bodyPr wrap="square" lIns="36576" rIns="36576" tIns="36576" bIns="18288" anchor="t">
            <a:spAutoFit/>
          </a:bodyPr>
          <a:lstStyle/>
          <a:p>
            <a:pPr algn="l">
              <a:spcBef>
                <a:spcPts val="0"/>
              </a:spcBef>
              <a:spcAft>
                <a:spcPts val="0"/>
              </a:spcAft>
              <a:defRPr sz="1400" b="0" i="0">
                <a:solidFill>
                  <a:srgbClr val="5D646E"/>
                </a:solidFill>
                <a:latin typeface="Arial"/>
              </a:defRPr>
            </a:pPr>
            <a:r>
              <a:t>Use a normalized relational schema with keys and constraints.</a:t>
            </a:r>
          </a:p>
        </p:txBody>
      </p:sp>
      <p:cxnSp>
        <p:nvCxnSpPr>
          <p:cNvPr id="20" name="Connector 19"/>
          <p:cNvCxnSpPr/>
          <p:nvPr/>
        </p:nvCxnSpPr>
        <p:spPr>
          <a:xfrm>
            <a:off x="768096" y="3072384"/>
            <a:ext cx="7598664" cy="0"/>
          </a:xfrm>
          <a:prstGeom prst="line">
            <a:avLst/>
          </a:prstGeom>
          <a:ln w="8890">
            <a:solidFill>
              <a:srgbClr val="E2E5E9"/>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9808" y="3282696"/>
            <a:ext cx="438912"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291839"/>
            <a:ext cx="438912"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03</a:t>
            </a:r>
          </a:p>
        </p:txBody>
      </p:sp>
      <p:sp>
        <p:nvSpPr>
          <p:cNvPr id="23" name="TextBox 22"/>
          <p:cNvSpPr txBox="1"/>
          <p:nvPr/>
        </p:nvSpPr>
        <p:spPr>
          <a:xfrm>
            <a:off x="1389888" y="3273552"/>
            <a:ext cx="2240280" cy="329184"/>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Demand-based prices</a:t>
            </a:r>
          </a:p>
        </p:txBody>
      </p:sp>
      <p:sp>
        <p:nvSpPr>
          <p:cNvPr id="24" name="TextBox 23"/>
          <p:cNvSpPr txBox="1"/>
          <p:nvPr/>
        </p:nvSpPr>
        <p:spPr>
          <a:xfrm>
            <a:off x="3749039" y="3264408"/>
            <a:ext cx="4645152" cy="457200"/>
          </a:xfrm>
          <a:prstGeom prst="rect">
            <a:avLst/>
          </a:prstGeom>
          <a:noFill/>
        </p:spPr>
        <p:txBody>
          <a:bodyPr wrap="square" lIns="36576" rIns="36576" tIns="36576" bIns="18288" anchor="t">
            <a:spAutoFit/>
          </a:bodyPr>
          <a:lstStyle/>
          <a:p>
            <a:pPr algn="l">
              <a:spcBef>
                <a:spcPts val="0"/>
              </a:spcBef>
              <a:spcAft>
                <a:spcPts val="0"/>
              </a:spcAft>
              <a:defRPr sz="1400" b="0" i="0">
                <a:solidFill>
                  <a:srgbClr val="5D646E"/>
                </a:solidFill>
                <a:latin typeface="Arial"/>
              </a:defRPr>
            </a:pPr>
            <a:r>
              <a:t>Calculate ticket price from actual show occupancy.</a:t>
            </a:r>
          </a:p>
        </p:txBody>
      </p:sp>
      <p:cxnSp>
        <p:nvCxnSpPr>
          <p:cNvPr id="25" name="Connector 24"/>
          <p:cNvCxnSpPr/>
          <p:nvPr/>
        </p:nvCxnSpPr>
        <p:spPr>
          <a:xfrm>
            <a:off x="768096" y="3895344"/>
            <a:ext cx="7598664" cy="0"/>
          </a:xfrm>
          <a:prstGeom prst="line">
            <a:avLst/>
          </a:prstGeom>
          <a:ln w="8890">
            <a:solidFill>
              <a:srgbClr val="E2E5E9"/>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9808" y="4105656"/>
            <a:ext cx="438912"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114800"/>
            <a:ext cx="438912"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04</a:t>
            </a:r>
          </a:p>
        </p:txBody>
      </p:sp>
      <p:sp>
        <p:nvSpPr>
          <p:cNvPr id="28" name="TextBox 27"/>
          <p:cNvSpPr txBox="1"/>
          <p:nvPr/>
        </p:nvSpPr>
        <p:spPr>
          <a:xfrm>
            <a:off x="1389888" y="4096512"/>
            <a:ext cx="2240280" cy="329184"/>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Recommendations</a:t>
            </a:r>
          </a:p>
        </p:txBody>
      </p:sp>
      <p:sp>
        <p:nvSpPr>
          <p:cNvPr id="29" name="TextBox 28"/>
          <p:cNvSpPr txBox="1"/>
          <p:nvPr/>
        </p:nvSpPr>
        <p:spPr>
          <a:xfrm>
            <a:off x="3749039" y="4087368"/>
            <a:ext cx="4645152" cy="457200"/>
          </a:xfrm>
          <a:prstGeom prst="rect">
            <a:avLst/>
          </a:prstGeom>
          <a:noFill/>
        </p:spPr>
        <p:txBody>
          <a:bodyPr wrap="square" lIns="36576" rIns="36576" tIns="36576" bIns="18288" anchor="t">
            <a:spAutoFit/>
          </a:bodyPr>
          <a:lstStyle/>
          <a:p>
            <a:pPr algn="l">
              <a:spcBef>
                <a:spcPts val="0"/>
              </a:spcBef>
              <a:spcAft>
                <a:spcPts val="0"/>
              </a:spcAft>
              <a:defRPr sz="1400" b="0" i="0">
                <a:solidFill>
                  <a:srgbClr val="5D646E"/>
                </a:solidFill>
                <a:latin typeface="Arial"/>
              </a:defRPr>
            </a:pPr>
            <a:r>
              <a:t>Suggest similar and personalized movies.</a:t>
            </a:r>
          </a:p>
        </p:txBody>
      </p:sp>
      <p:cxnSp>
        <p:nvCxnSpPr>
          <p:cNvPr id="30" name="Connector 29"/>
          <p:cNvCxnSpPr/>
          <p:nvPr/>
        </p:nvCxnSpPr>
        <p:spPr>
          <a:xfrm>
            <a:off x="768096" y="4718304"/>
            <a:ext cx="7598664" cy="0"/>
          </a:xfrm>
          <a:prstGeom prst="line">
            <a:avLst/>
          </a:prstGeom>
          <a:ln w="8890">
            <a:solidFill>
              <a:srgbClr val="E2E5E9"/>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49808" y="4928616"/>
            <a:ext cx="438912"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937760"/>
            <a:ext cx="438912"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05</a:t>
            </a:r>
          </a:p>
        </p:txBody>
      </p:sp>
      <p:sp>
        <p:nvSpPr>
          <p:cNvPr id="33" name="TextBox 32"/>
          <p:cNvSpPr txBox="1"/>
          <p:nvPr/>
        </p:nvSpPr>
        <p:spPr>
          <a:xfrm>
            <a:off x="1389888" y="4919472"/>
            <a:ext cx="2240280" cy="329184"/>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Admin operations</a:t>
            </a:r>
          </a:p>
        </p:txBody>
      </p:sp>
      <p:sp>
        <p:nvSpPr>
          <p:cNvPr id="34" name="TextBox 33"/>
          <p:cNvSpPr txBox="1"/>
          <p:nvPr/>
        </p:nvSpPr>
        <p:spPr>
          <a:xfrm>
            <a:off x="3749039" y="4910328"/>
            <a:ext cx="4645152" cy="457200"/>
          </a:xfrm>
          <a:prstGeom prst="rect">
            <a:avLst/>
          </a:prstGeom>
          <a:noFill/>
        </p:spPr>
        <p:txBody>
          <a:bodyPr wrap="square" lIns="36576" rIns="36576" tIns="36576" bIns="18288" anchor="t">
            <a:spAutoFit/>
          </a:bodyPr>
          <a:lstStyle/>
          <a:p>
            <a:pPr algn="l">
              <a:spcBef>
                <a:spcPts val="0"/>
              </a:spcBef>
              <a:spcAft>
                <a:spcPts val="0"/>
              </a:spcAft>
              <a:defRPr sz="1400" b="0" i="0">
                <a:solidFill>
                  <a:srgbClr val="5D646E"/>
                </a:solidFill>
                <a:latin typeface="Arial"/>
              </a:defRPr>
            </a:pPr>
            <a:r>
              <a:t>Manage movies, shows, bookings and analytics.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Background &amp; Proposed System</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5</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94360" y="1371600"/>
            <a:ext cx="3849624" cy="4251960"/>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1481328"/>
            <a:ext cx="3593591" cy="320040"/>
          </a:xfrm>
          <a:prstGeom prst="rect">
            <a:avLst/>
          </a:prstGeom>
          <a:noFill/>
        </p:spPr>
        <p:txBody>
          <a:bodyPr wrap="square" lIns="36576" rIns="36576" tIns="36576" bIns="18288" anchor="t">
            <a:spAutoFit/>
          </a:bodyPr>
          <a:lstStyle/>
          <a:p>
            <a:pPr algn="l">
              <a:spcBef>
                <a:spcPts val="0"/>
              </a:spcBef>
              <a:spcAft>
                <a:spcPts val="0"/>
              </a:spcAft>
              <a:defRPr sz="1800" b="1" i="0">
                <a:solidFill>
                  <a:srgbClr val="27313D"/>
                </a:solidFill>
                <a:latin typeface="Arial"/>
              </a:defRPr>
            </a:pPr>
            <a:r>
              <a:t>Existing / fragmented approach</a:t>
            </a:r>
          </a:p>
        </p:txBody>
      </p:sp>
      <p:sp>
        <p:nvSpPr>
          <p:cNvPr id="11" name="Rounded Rectangle 10"/>
          <p:cNvSpPr/>
          <p:nvPr/>
        </p:nvSpPr>
        <p:spPr>
          <a:xfrm>
            <a:off x="4690872" y="1371600"/>
            <a:ext cx="3849624" cy="4251960"/>
          </a:xfrm>
          <a:prstGeom prst="roundRect">
            <a:avLst/>
          </a:prstGeom>
          <a:solidFill>
            <a:srgbClr val="FEF5F0"/>
          </a:solidFill>
          <a:ln w="9525">
            <a:solidFill>
              <a:srgbClr val="F5D2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8888" y="1481328"/>
            <a:ext cx="3593591" cy="320040"/>
          </a:xfrm>
          <a:prstGeom prst="rect">
            <a:avLst/>
          </a:prstGeom>
          <a:noFill/>
        </p:spPr>
        <p:txBody>
          <a:bodyPr wrap="square" lIns="36576" rIns="36576" tIns="36576" bIns="18288" anchor="t">
            <a:spAutoFit/>
          </a:bodyPr>
          <a:lstStyle/>
          <a:p>
            <a:pPr algn="l">
              <a:spcBef>
                <a:spcPts val="0"/>
              </a:spcBef>
              <a:spcAft>
                <a:spcPts val="0"/>
              </a:spcAft>
              <a:defRPr sz="1800" b="1" i="0">
                <a:solidFill>
                  <a:srgbClr val="27313D"/>
                </a:solidFill>
                <a:latin typeface="Arial"/>
              </a:defRPr>
            </a:pPr>
            <a:r>
              <a:t>Our proposed system</a:t>
            </a:r>
          </a:p>
        </p:txBody>
      </p:sp>
      <p:sp>
        <p:nvSpPr>
          <p:cNvPr id="13" name="Oval 12"/>
          <p:cNvSpPr/>
          <p:nvPr/>
        </p:nvSpPr>
        <p:spPr>
          <a:xfrm>
            <a:off x="822960" y="2340864"/>
            <a:ext cx="68580" cy="68580"/>
          </a:xfrm>
          <a:prstGeom prst="ellipse">
            <a:avLst/>
          </a:prstGeom>
          <a:solidFill>
            <a:srgbClr val="5D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194560"/>
            <a:ext cx="3191256" cy="694944"/>
          </a:xfrm>
          <a:prstGeom prst="rect">
            <a:avLst/>
          </a:prstGeom>
          <a:noFill/>
        </p:spPr>
        <p:txBody>
          <a:bodyPr wrap="square" lIns="36576" rIns="36576" tIns="36576" bIns="18288" anchor="t">
            <a:spAutoFit/>
          </a:bodyPr>
          <a:lstStyle/>
          <a:p>
            <a:pPr algn="l">
              <a:spcBef>
                <a:spcPts val="0"/>
              </a:spcBef>
              <a:spcAft>
                <a:spcPts val="0"/>
              </a:spcAft>
              <a:defRPr sz="1550" b="0" i="0">
                <a:solidFill>
                  <a:srgbClr val="27313D"/>
                </a:solidFill>
                <a:latin typeface="Arial"/>
              </a:defRPr>
            </a:pPr>
            <a:r>
              <a:t>Manual or separate booking records</a:t>
            </a:r>
          </a:p>
        </p:txBody>
      </p:sp>
      <p:sp>
        <p:nvSpPr>
          <p:cNvPr id="15" name="Oval 14"/>
          <p:cNvSpPr/>
          <p:nvPr/>
        </p:nvSpPr>
        <p:spPr>
          <a:xfrm>
            <a:off x="822960" y="3072384"/>
            <a:ext cx="68580" cy="68580"/>
          </a:xfrm>
          <a:prstGeom prst="ellipse">
            <a:avLst/>
          </a:prstGeom>
          <a:solidFill>
            <a:srgbClr val="5D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2926080"/>
            <a:ext cx="3191256" cy="694944"/>
          </a:xfrm>
          <a:prstGeom prst="rect">
            <a:avLst/>
          </a:prstGeom>
          <a:noFill/>
        </p:spPr>
        <p:txBody>
          <a:bodyPr wrap="square" lIns="36576" rIns="36576" tIns="36576" bIns="18288" anchor="t">
            <a:spAutoFit/>
          </a:bodyPr>
          <a:lstStyle/>
          <a:p>
            <a:pPr algn="l">
              <a:spcBef>
                <a:spcPts val="0"/>
              </a:spcBef>
              <a:spcAft>
                <a:spcPts val="0"/>
              </a:spcAft>
              <a:defRPr sz="1550" b="0" i="0">
                <a:solidFill>
                  <a:srgbClr val="27313D"/>
                </a:solidFill>
                <a:latin typeface="Arial"/>
              </a:defRPr>
            </a:pPr>
            <a:r>
              <a:t>Limited visibility of seat availability</a:t>
            </a:r>
          </a:p>
        </p:txBody>
      </p:sp>
      <p:sp>
        <p:nvSpPr>
          <p:cNvPr id="17" name="Oval 16"/>
          <p:cNvSpPr/>
          <p:nvPr/>
        </p:nvSpPr>
        <p:spPr>
          <a:xfrm>
            <a:off x="822960" y="3803904"/>
            <a:ext cx="68580" cy="68580"/>
          </a:xfrm>
          <a:prstGeom prst="ellipse">
            <a:avLst/>
          </a:prstGeom>
          <a:solidFill>
            <a:srgbClr val="5D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657600"/>
            <a:ext cx="3191256" cy="694944"/>
          </a:xfrm>
          <a:prstGeom prst="rect">
            <a:avLst/>
          </a:prstGeom>
          <a:noFill/>
        </p:spPr>
        <p:txBody>
          <a:bodyPr wrap="square" lIns="36576" rIns="36576" tIns="36576" bIns="18288" anchor="t">
            <a:spAutoFit/>
          </a:bodyPr>
          <a:lstStyle/>
          <a:p>
            <a:pPr algn="l">
              <a:spcBef>
                <a:spcPts val="0"/>
              </a:spcBef>
              <a:spcAft>
                <a:spcPts val="0"/>
              </a:spcAft>
              <a:defRPr sz="1550" b="0" i="0">
                <a:solidFill>
                  <a:srgbClr val="27313D"/>
                </a:solidFill>
                <a:latin typeface="Arial"/>
              </a:defRPr>
            </a:pPr>
            <a:r>
              <a:t>Pricing may remain fixed</a:t>
            </a:r>
          </a:p>
        </p:txBody>
      </p:sp>
      <p:sp>
        <p:nvSpPr>
          <p:cNvPr id="19" name="Oval 18"/>
          <p:cNvSpPr/>
          <p:nvPr/>
        </p:nvSpPr>
        <p:spPr>
          <a:xfrm>
            <a:off x="822960" y="4535424"/>
            <a:ext cx="68580" cy="68580"/>
          </a:xfrm>
          <a:prstGeom prst="ellipse">
            <a:avLst/>
          </a:prstGeom>
          <a:solidFill>
            <a:srgbClr val="5D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389120"/>
            <a:ext cx="3191256" cy="694944"/>
          </a:xfrm>
          <a:prstGeom prst="rect">
            <a:avLst/>
          </a:prstGeom>
          <a:noFill/>
        </p:spPr>
        <p:txBody>
          <a:bodyPr wrap="square" lIns="36576" rIns="36576" tIns="36576" bIns="18288" anchor="t">
            <a:spAutoFit/>
          </a:bodyPr>
          <a:lstStyle/>
          <a:p>
            <a:pPr algn="l">
              <a:spcBef>
                <a:spcPts val="0"/>
              </a:spcBef>
              <a:spcAft>
                <a:spcPts val="0"/>
              </a:spcAft>
              <a:defRPr sz="1550" b="0" i="0">
                <a:solidFill>
                  <a:srgbClr val="27313D"/>
                </a:solidFill>
                <a:latin typeface="Arial"/>
              </a:defRPr>
            </a:pPr>
            <a:r>
              <a:t>Difficult to track refunds and reports</a:t>
            </a:r>
          </a:p>
        </p:txBody>
      </p:sp>
      <p:sp>
        <p:nvSpPr>
          <p:cNvPr id="21" name="Oval 20"/>
          <p:cNvSpPr/>
          <p:nvPr/>
        </p:nvSpPr>
        <p:spPr>
          <a:xfrm>
            <a:off x="4937760" y="2340864"/>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2194560"/>
            <a:ext cx="3191256" cy="694944"/>
          </a:xfrm>
          <a:prstGeom prst="rect">
            <a:avLst/>
          </a:prstGeom>
          <a:noFill/>
        </p:spPr>
        <p:txBody>
          <a:bodyPr wrap="square" lIns="36576" rIns="36576" tIns="36576" bIns="18288" anchor="t">
            <a:spAutoFit/>
          </a:bodyPr>
          <a:lstStyle/>
          <a:p>
            <a:pPr algn="l">
              <a:spcBef>
                <a:spcPts val="0"/>
              </a:spcBef>
              <a:spcAft>
                <a:spcPts val="0"/>
              </a:spcAft>
              <a:defRPr sz="1550" b="0" i="0">
                <a:solidFill>
                  <a:srgbClr val="27313D"/>
                </a:solidFill>
                <a:latin typeface="Arial"/>
              </a:defRPr>
            </a:pPr>
            <a:r>
              <a:t>One connected MySQL database</a:t>
            </a:r>
          </a:p>
        </p:txBody>
      </p:sp>
      <p:sp>
        <p:nvSpPr>
          <p:cNvPr id="23" name="Oval 22"/>
          <p:cNvSpPr/>
          <p:nvPr/>
        </p:nvSpPr>
        <p:spPr>
          <a:xfrm>
            <a:off x="4937760" y="3072384"/>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926080"/>
            <a:ext cx="3191256" cy="694944"/>
          </a:xfrm>
          <a:prstGeom prst="rect">
            <a:avLst/>
          </a:prstGeom>
          <a:noFill/>
        </p:spPr>
        <p:txBody>
          <a:bodyPr wrap="square" lIns="36576" rIns="36576" tIns="36576" bIns="18288" anchor="t">
            <a:spAutoFit/>
          </a:bodyPr>
          <a:lstStyle/>
          <a:p>
            <a:pPr algn="l">
              <a:spcBef>
                <a:spcPts val="0"/>
              </a:spcBef>
              <a:spcAft>
                <a:spcPts val="0"/>
              </a:spcAft>
              <a:defRPr sz="1550" b="0" i="0">
                <a:solidFill>
                  <a:srgbClr val="27313D"/>
                </a:solidFill>
                <a:latin typeface="Arial"/>
              </a:defRPr>
            </a:pPr>
            <a:r>
              <a:t>Server-side seat validation</a:t>
            </a:r>
          </a:p>
        </p:txBody>
      </p:sp>
      <p:sp>
        <p:nvSpPr>
          <p:cNvPr id="25" name="Oval 24"/>
          <p:cNvSpPr/>
          <p:nvPr/>
        </p:nvSpPr>
        <p:spPr>
          <a:xfrm>
            <a:off x="4937760" y="3803904"/>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20640" y="3657600"/>
            <a:ext cx="3191256" cy="694944"/>
          </a:xfrm>
          <a:prstGeom prst="rect">
            <a:avLst/>
          </a:prstGeom>
          <a:noFill/>
        </p:spPr>
        <p:txBody>
          <a:bodyPr wrap="square" lIns="36576" rIns="36576" tIns="36576" bIns="18288" anchor="t">
            <a:spAutoFit/>
          </a:bodyPr>
          <a:lstStyle/>
          <a:p>
            <a:pPr algn="l">
              <a:spcBef>
                <a:spcPts val="0"/>
              </a:spcBef>
              <a:spcAft>
                <a:spcPts val="0"/>
              </a:spcAft>
              <a:defRPr sz="1550" b="0" i="0">
                <a:solidFill>
                  <a:srgbClr val="27313D"/>
                </a:solidFill>
                <a:latin typeface="Arial"/>
              </a:defRPr>
            </a:pPr>
            <a:r>
              <a:t>Occupancy-based dynamic pricing</a:t>
            </a:r>
          </a:p>
        </p:txBody>
      </p:sp>
      <p:sp>
        <p:nvSpPr>
          <p:cNvPr id="27" name="Oval 26"/>
          <p:cNvSpPr/>
          <p:nvPr/>
        </p:nvSpPr>
        <p:spPr>
          <a:xfrm>
            <a:off x="4937760" y="4535424"/>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4389120"/>
            <a:ext cx="3191256" cy="694944"/>
          </a:xfrm>
          <a:prstGeom prst="rect">
            <a:avLst/>
          </a:prstGeom>
          <a:noFill/>
        </p:spPr>
        <p:txBody>
          <a:bodyPr wrap="square" lIns="36576" rIns="36576" tIns="36576" bIns="18288" anchor="t">
            <a:spAutoFit/>
          </a:bodyPr>
          <a:lstStyle/>
          <a:p>
            <a:pPr algn="l">
              <a:spcBef>
                <a:spcPts val="0"/>
              </a:spcBef>
              <a:spcAft>
                <a:spcPts val="0"/>
              </a:spcAft>
              <a:defRPr sz="1550" b="0" i="0">
                <a:solidFill>
                  <a:srgbClr val="27313D"/>
                </a:solidFill>
                <a:latin typeface="Arial"/>
              </a:defRPr>
            </a:pPr>
            <a:r>
              <a:t>Customer reviews + admin analytics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Software Requirements &amp; Tools</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6</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94360" y="1243584"/>
            <a:ext cx="2240280" cy="265176"/>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52728"/>
            <a:ext cx="2240280" cy="246887"/>
          </a:xfrm>
          <a:prstGeom prst="rect">
            <a:avLst/>
          </a:prstGeom>
          <a:noFill/>
        </p:spPr>
        <p:txBody>
          <a:bodyPr wrap="square" lIns="36576" rIns="36576" tIns="36576" bIns="18288" anchor="ctr">
            <a:spAutoFit/>
          </a:bodyPr>
          <a:lstStyle/>
          <a:p>
            <a:pPr algn="ctr">
              <a:spcBef>
                <a:spcPts val="0"/>
              </a:spcBef>
              <a:spcAft>
                <a:spcPts val="0"/>
              </a:spcAft>
              <a:defRPr sz="1000" b="1" i="0">
                <a:solidFill>
                  <a:srgbClr val="D94410"/>
                </a:solidFill>
                <a:latin typeface="Arial"/>
              </a:defRPr>
            </a:pPr>
            <a:r>
              <a:t>DEVELOPMENT STACK</a:t>
            </a:r>
          </a:p>
        </p:txBody>
      </p:sp>
      <p:sp>
        <p:nvSpPr>
          <p:cNvPr id="11" name="Rounded Rectangle 10"/>
          <p:cNvSpPr/>
          <p:nvPr/>
        </p:nvSpPr>
        <p:spPr>
          <a:xfrm>
            <a:off x="676656" y="1591056"/>
            <a:ext cx="7827264" cy="685800"/>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6656" y="1591056"/>
            <a:ext cx="1947672" cy="685800"/>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1764792"/>
            <a:ext cx="1645920" cy="246888"/>
          </a:xfrm>
          <a:prstGeom prst="rect">
            <a:avLst/>
          </a:prstGeom>
          <a:noFill/>
        </p:spPr>
        <p:txBody>
          <a:bodyPr wrap="square" lIns="36576" rIns="36576" tIns="36576" bIns="18288" anchor="t">
            <a:spAutoFit/>
          </a:bodyPr>
          <a:lstStyle/>
          <a:p>
            <a:pPr algn="l">
              <a:spcBef>
                <a:spcPts val="0"/>
              </a:spcBef>
              <a:spcAft>
                <a:spcPts val="0"/>
              </a:spcAft>
              <a:defRPr sz="1300" b="1" i="0">
                <a:solidFill>
                  <a:srgbClr val="D94410"/>
                </a:solidFill>
                <a:latin typeface="Arial"/>
              </a:defRPr>
            </a:pPr>
            <a:r>
              <a:t>FRONTEND</a:t>
            </a:r>
          </a:p>
        </p:txBody>
      </p:sp>
      <p:sp>
        <p:nvSpPr>
          <p:cNvPr id="14" name="TextBox 13"/>
          <p:cNvSpPr txBox="1"/>
          <p:nvPr/>
        </p:nvSpPr>
        <p:spPr>
          <a:xfrm>
            <a:off x="2798064" y="1746504"/>
            <a:ext cx="5394960" cy="36576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HTML • CSS • JavaScript • Bootstrap • Jinja</a:t>
            </a:r>
          </a:p>
        </p:txBody>
      </p:sp>
      <p:sp>
        <p:nvSpPr>
          <p:cNvPr id="15" name="Rounded Rectangle 14"/>
          <p:cNvSpPr/>
          <p:nvPr/>
        </p:nvSpPr>
        <p:spPr>
          <a:xfrm>
            <a:off x="676656" y="2423160"/>
            <a:ext cx="7827264" cy="685800"/>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6656" y="2423160"/>
            <a:ext cx="1947672" cy="685800"/>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2596896"/>
            <a:ext cx="1645920" cy="246888"/>
          </a:xfrm>
          <a:prstGeom prst="rect">
            <a:avLst/>
          </a:prstGeom>
          <a:noFill/>
        </p:spPr>
        <p:txBody>
          <a:bodyPr wrap="square" lIns="36576" rIns="36576" tIns="36576" bIns="18288" anchor="t">
            <a:spAutoFit/>
          </a:bodyPr>
          <a:lstStyle/>
          <a:p>
            <a:pPr algn="l">
              <a:spcBef>
                <a:spcPts val="0"/>
              </a:spcBef>
              <a:spcAft>
                <a:spcPts val="0"/>
              </a:spcAft>
              <a:defRPr sz="1300" b="1" i="0">
                <a:solidFill>
                  <a:srgbClr val="D94410"/>
                </a:solidFill>
                <a:latin typeface="Arial"/>
              </a:defRPr>
            </a:pPr>
            <a:r>
              <a:t>BACKEND</a:t>
            </a:r>
          </a:p>
        </p:txBody>
      </p:sp>
      <p:sp>
        <p:nvSpPr>
          <p:cNvPr id="18" name="TextBox 17"/>
          <p:cNvSpPr txBox="1"/>
          <p:nvPr/>
        </p:nvSpPr>
        <p:spPr>
          <a:xfrm>
            <a:off x="2798064" y="2578608"/>
            <a:ext cx="5394960" cy="36576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Python • Flask • mysql-connector-python</a:t>
            </a:r>
          </a:p>
        </p:txBody>
      </p:sp>
      <p:sp>
        <p:nvSpPr>
          <p:cNvPr id="19" name="Rounded Rectangle 18"/>
          <p:cNvSpPr/>
          <p:nvPr/>
        </p:nvSpPr>
        <p:spPr>
          <a:xfrm>
            <a:off x="676656" y="3255264"/>
            <a:ext cx="7827264" cy="685800"/>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76656" y="3255264"/>
            <a:ext cx="1947672" cy="685800"/>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 y="3429000"/>
            <a:ext cx="1645920" cy="246888"/>
          </a:xfrm>
          <a:prstGeom prst="rect">
            <a:avLst/>
          </a:prstGeom>
          <a:noFill/>
        </p:spPr>
        <p:txBody>
          <a:bodyPr wrap="square" lIns="36576" rIns="36576" tIns="36576" bIns="18288" anchor="t">
            <a:spAutoFit/>
          </a:bodyPr>
          <a:lstStyle/>
          <a:p>
            <a:pPr algn="l">
              <a:spcBef>
                <a:spcPts val="0"/>
              </a:spcBef>
              <a:spcAft>
                <a:spcPts val="0"/>
              </a:spcAft>
              <a:defRPr sz="1300" b="1" i="0">
                <a:solidFill>
                  <a:srgbClr val="D94410"/>
                </a:solidFill>
                <a:latin typeface="Arial"/>
              </a:defRPr>
            </a:pPr>
            <a:r>
              <a:t>DATABASE</a:t>
            </a:r>
          </a:p>
        </p:txBody>
      </p:sp>
      <p:sp>
        <p:nvSpPr>
          <p:cNvPr id="22" name="TextBox 21"/>
          <p:cNvSpPr txBox="1"/>
          <p:nvPr/>
        </p:nvSpPr>
        <p:spPr>
          <a:xfrm>
            <a:off x="2798064" y="3410712"/>
            <a:ext cx="5394960" cy="36576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MySQL Server • MySQL Workbench</a:t>
            </a:r>
          </a:p>
        </p:txBody>
      </p:sp>
      <p:sp>
        <p:nvSpPr>
          <p:cNvPr id="23" name="Rounded Rectangle 22"/>
          <p:cNvSpPr/>
          <p:nvPr/>
        </p:nvSpPr>
        <p:spPr>
          <a:xfrm>
            <a:off x="676656" y="4087368"/>
            <a:ext cx="7827264" cy="685800"/>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6656" y="4087368"/>
            <a:ext cx="1947672" cy="685800"/>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61104"/>
            <a:ext cx="1645920" cy="246888"/>
          </a:xfrm>
          <a:prstGeom prst="rect">
            <a:avLst/>
          </a:prstGeom>
          <a:noFill/>
        </p:spPr>
        <p:txBody>
          <a:bodyPr wrap="square" lIns="36576" rIns="36576" tIns="36576" bIns="18288" anchor="t">
            <a:spAutoFit/>
          </a:bodyPr>
          <a:lstStyle/>
          <a:p>
            <a:pPr algn="l">
              <a:spcBef>
                <a:spcPts val="0"/>
              </a:spcBef>
              <a:spcAft>
                <a:spcPts val="0"/>
              </a:spcAft>
              <a:defRPr sz="1300" b="1" i="0">
                <a:solidFill>
                  <a:srgbClr val="D94410"/>
                </a:solidFill>
                <a:latin typeface="Arial"/>
              </a:defRPr>
            </a:pPr>
            <a:r>
              <a:t>SMART FEATURES</a:t>
            </a:r>
          </a:p>
        </p:txBody>
      </p:sp>
      <p:sp>
        <p:nvSpPr>
          <p:cNvPr id="26" name="TextBox 25"/>
          <p:cNvSpPr txBox="1"/>
          <p:nvPr/>
        </p:nvSpPr>
        <p:spPr>
          <a:xfrm>
            <a:off x="2798064" y="4242816"/>
            <a:ext cx="5394960" cy="36576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Pandas • scikit-learn • Chart.js</a:t>
            </a:r>
          </a:p>
        </p:txBody>
      </p:sp>
      <p:sp>
        <p:nvSpPr>
          <p:cNvPr id="27" name="Rounded Rectangle 26"/>
          <p:cNvSpPr/>
          <p:nvPr/>
        </p:nvSpPr>
        <p:spPr>
          <a:xfrm>
            <a:off x="676656" y="4919472"/>
            <a:ext cx="7827264" cy="685800"/>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76656" y="4919472"/>
            <a:ext cx="1947672" cy="685800"/>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5093208"/>
            <a:ext cx="1645920" cy="246888"/>
          </a:xfrm>
          <a:prstGeom prst="rect">
            <a:avLst/>
          </a:prstGeom>
          <a:noFill/>
        </p:spPr>
        <p:txBody>
          <a:bodyPr wrap="square" lIns="36576" rIns="36576" tIns="36576" bIns="18288" anchor="t">
            <a:spAutoFit/>
          </a:bodyPr>
          <a:lstStyle/>
          <a:p>
            <a:pPr algn="l">
              <a:spcBef>
                <a:spcPts val="0"/>
              </a:spcBef>
              <a:spcAft>
                <a:spcPts val="0"/>
              </a:spcAft>
              <a:defRPr sz="1300" b="1" i="0">
                <a:solidFill>
                  <a:srgbClr val="D94410"/>
                </a:solidFill>
                <a:latin typeface="Arial"/>
              </a:defRPr>
            </a:pPr>
            <a:r>
              <a:t>TOOLS</a:t>
            </a:r>
          </a:p>
        </p:txBody>
      </p:sp>
      <p:sp>
        <p:nvSpPr>
          <p:cNvPr id="30" name="TextBox 29"/>
          <p:cNvSpPr txBox="1"/>
          <p:nvPr/>
        </p:nvSpPr>
        <p:spPr>
          <a:xfrm>
            <a:off x="2798064" y="5074920"/>
            <a:ext cx="5394960" cy="36576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VS Code • Figma • Postman • Git/GitHub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System Design &amp; Architecture</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7</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94360" y="1243584"/>
            <a:ext cx="2240280" cy="265176"/>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52728"/>
            <a:ext cx="2240280" cy="246887"/>
          </a:xfrm>
          <a:prstGeom prst="rect">
            <a:avLst/>
          </a:prstGeom>
          <a:noFill/>
        </p:spPr>
        <p:txBody>
          <a:bodyPr wrap="square" lIns="36576" rIns="36576" tIns="36576" bIns="18288" anchor="ctr">
            <a:spAutoFit/>
          </a:bodyPr>
          <a:lstStyle/>
          <a:p>
            <a:pPr algn="ctr">
              <a:spcBef>
                <a:spcPts val="0"/>
              </a:spcBef>
              <a:spcAft>
                <a:spcPts val="0"/>
              </a:spcAft>
              <a:defRPr sz="1000" b="1" i="0">
                <a:solidFill>
                  <a:srgbClr val="D94410"/>
                </a:solidFill>
                <a:latin typeface="Arial"/>
              </a:defRPr>
            </a:pPr>
            <a:r>
              <a:t>REQUEST / RESPONSE FLOW</a:t>
            </a:r>
          </a:p>
        </p:txBody>
      </p:sp>
      <p:sp>
        <p:nvSpPr>
          <p:cNvPr id="11" name="Rounded Rectangle 10"/>
          <p:cNvSpPr/>
          <p:nvPr/>
        </p:nvSpPr>
        <p:spPr>
          <a:xfrm>
            <a:off x="2926080" y="1389888"/>
            <a:ext cx="3273552" cy="914400"/>
          </a:xfrm>
          <a:prstGeom prst="roundRect">
            <a:avLst/>
          </a:prstGeom>
          <a:solidFill>
            <a:srgbClr val="FEF5F0"/>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54096" y="1499616"/>
            <a:ext cx="3017520" cy="320040"/>
          </a:xfrm>
          <a:prstGeom prst="rect">
            <a:avLst/>
          </a:prstGeom>
          <a:noFill/>
        </p:spPr>
        <p:txBody>
          <a:bodyPr wrap="square" lIns="36576" rIns="36576" tIns="36576" bIns="18288" anchor="t">
            <a:spAutoFit/>
          </a:bodyPr>
          <a:lstStyle/>
          <a:p>
            <a:pPr algn="l">
              <a:spcBef>
                <a:spcPts val="0"/>
              </a:spcBef>
              <a:spcAft>
                <a:spcPts val="0"/>
              </a:spcAft>
              <a:defRPr sz="1600" b="1" i="0">
                <a:solidFill>
                  <a:srgbClr val="27313D"/>
                </a:solidFill>
                <a:latin typeface="Arial"/>
              </a:defRPr>
            </a:pPr>
            <a:r>
              <a:t>Frontend</a:t>
            </a:r>
          </a:p>
        </p:txBody>
      </p:sp>
      <p:sp>
        <p:nvSpPr>
          <p:cNvPr id="13" name="TextBox 12"/>
          <p:cNvSpPr txBox="1"/>
          <p:nvPr/>
        </p:nvSpPr>
        <p:spPr>
          <a:xfrm>
            <a:off x="3054096" y="1865376"/>
            <a:ext cx="3017520" cy="365760"/>
          </a:xfrm>
          <a:prstGeom prst="rect">
            <a:avLst/>
          </a:prstGeom>
          <a:noFill/>
        </p:spPr>
        <p:txBody>
          <a:bodyPr wrap="square" lIns="36576" rIns="36576" tIns="36576" bIns="18288" anchor="t">
            <a:spAutoFit/>
          </a:bodyPr>
          <a:lstStyle/>
          <a:p>
            <a:pPr algn="l">
              <a:spcBef>
                <a:spcPts val="0"/>
              </a:spcBef>
              <a:spcAft>
                <a:spcPts val="0"/>
              </a:spcAft>
              <a:defRPr sz="1200" b="0" i="0">
                <a:solidFill>
                  <a:srgbClr val="5D646E"/>
                </a:solidFill>
                <a:latin typeface="Arial"/>
              </a:defRPr>
            </a:pPr>
            <a:r>
              <a:t>HTML • CSS • Bootstrap • JS</a:t>
            </a:r>
          </a:p>
        </p:txBody>
      </p:sp>
      <p:cxnSp>
        <p:nvCxnSpPr>
          <p:cNvPr id="14" name="Connector 13"/>
          <p:cNvCxnSpPr/>
          <p:nvPr/>
        </p:nvCxnSpPr>
        <p:spPr>
          <a:xfrm>
            <a:off x="4562856" y="2377440"/>
            <a:ext cx="0" cy="329184"/>
          </a:xfrm>
          <a:prstGeom prst="line">
            <a:avLst/>
          </a:prstGeom>
          <a:ln w="25400">
            <a:solidFill>
              <a:srgbClr val="5D646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926080" y="2734056"/>
            <a:ext cx="3273552" cy="914400"/>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54096" y="2843784"/>
            <a:ext cx="3017520" cy="320040"/>
          </a:xfrm>
          <a:prstGeom prst="rect">
            <a:avLst/>
          </a:prstGeom>
          <a:noFill/>
        </p:spPr>
        <p:txBody>
          <a:bodyPr wrap="square" lIns="36576" rIns="36576" tIns="36576" bIns="18288" anchor="t">
            <a:spAutoFit/>
          </a:bodyPr>
          <a:lstStyle/>
          <a:p>
            <a:pPr algn="l">
              <a:spcBef>
                <a:spcPts val="0"/>
              </a:spcBef>
              <a:spcAft>
                <a:spcPts val="0"/>
              </a:spcAft>
              <a:defRPr sz="1600" b="1" i="0">
                <a:solidFill>
                  <a:srgbClr val="27313D"/>
                </a:solidFill>
                <a:latin typeface="Arial"/>
              </a:defRPr>
            </a:pPr>
            <a:r>
              <a:t>Flask Backend</a:t>
            </a:r>
          </a:p>
        </p:txBody>
      </p:sp>
      <p:sp>
        <p:nvSpPr>
          <p:cNvPr id="17" name="TextBox 16"/>
          <p:cNvSpPr txBox="1"/>
          <p:nvPr/>
        </p:nvSpPr>
        <p:spPr>
          <a:xfrm>
            <a:off x="3054096" y="3209544"/>
            <a:ext cx="3017520" cy="365760"/>
          </a:xfrm>
          <a:prstGeom prst="rect">
            <a:avLst/>
          </a:prstGeom>
          <a:noFill/>
        </p:spPr>
        <p:txBody>
          <a:bodyPr wrap="square" lIns="36576" rIns="36576" tIns="36576" bIns="18288" anchor="t">
            <a:spAutoFit/>
          </a:bodyPr>
          <a:lstStyle/>
          <a:p>
            <a:pPr algn="l">
              <a:spcBef>
                <a:spcPts val="0"/>
              </a:spcBef>
              <a:spcAft>
                <a:spcPts val="0"/>
              </a:spcAft>
              <a:defRPr sz="1200" b="0" i="0">
                <a:solidFill>
                  <a:srgbClr val="5D646E"/>
                </a:solidFill>
                <a:latin typeface="Arial"/>
              </a:defRPr>
            </a:pPr>
            <a:r>
              <a:t>Routes • Sessions • Validation</a:t>
            </a:r>
          </a:p>
        </p:txBody>
      </p:sp>
      <p:cxnSp>
        <p:nvCxnSpPr>
          <p:cNvPr id="18" name="Connector 17"/>
          <p:cNvCxnSpPr/>
          <p:nvPr/>
        </p:nvCxnSpPr>
        <p:spPr>
          <a:xfrm>
            <a:off x="4562856" y="3685032"/>
            <a:ext cx="0" cy="283464"/>
          </a:xfrm>
          <a:prstGeom prst="line">
            <a:avLst/>
          </a:prstGeom>
          <a:ln w="25400">
            <a:solidFill>
              <a:srgbClr val="5D646E"/>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3995928"/>
            <a:ext cx="3273552" cy="914400"/>
          </a:xfrm>
          <a:prstGeom prst="roundRect">
            <a:avLst/>
          </a:prstGeom>
          <a:solidFill>
            <a:srgbClr val="FEF5F0"/>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54096" y="4105656"/>
            <a:ext cx="3017520" cy="320040"/>
          </a:xfrm>
          <a:prstGeom prst="rect">
            <a:avLst/>
          </a:prstGeom>
          <a:noFill/>
        </p:spPr>
        <p:txBody>
          <a:bodyPr wrap="square" lIns="36576" rIns="36576" tIns="36576" bIns="18288" anchor="t">
            <a:spAutoFit/>
          </a:bodyPr>
          <a:lstStyle/>
          <a:p>
            <a:pPr algn="l">
              <a:spcBef>
                <a:spcPts val="0"/>
              </a:spcBef>
              <a:spcAft>
                <a:spcPts val="0"/>
              </a:spcAft>
              <a:defRPr sz="1600" b="1" i="0">
                <a:solidFill>
                  <a:srgbClr val="27313D"/>
                </a:solidFill>
                <a:latin typeface="Arial"/>
              </a:defRPr>
            </a:pPr>
            <a:r>
              <a:t>MySQL Database</a:t>
            </a:r>
          </a:p>
        </p:txBody>
      </p:sp>
      <p:sp>
        <p:nvSpPr>
          <p:cNvPr id="21" name="TextBox 20"/>
          <p:cNvSpPr txBox="1"/>
          <p:nvPr/>
        </p:nvSpPr>
        <p:spPr>
          <a:xfrm>
            <a:off x="3054096" y="4471416"/>
            <a:ext cx="3017520" cy="365760"/>
          </a:xfrm>
          <a:prstGeom prst="rect">
            <a:avLst/>
          </a:prstGeom>
          <a:noFill/>
        </p:spPr>
        <p:txBody>
          <a:bodyPr wrap="square" lIns="36576" rIns="36576" tIns="36576" bIns="18288" anchor="t">
            <a:spAutoFit/>
          </a:bodyPr>
          <a:lstStyle/>
          <a:p>
            <a:pPr algn="l">
              <a:spcBef>
                <a:spcPts val="0"/>
              </a:spcBef>
              <a:spcAft>
                <a:spcPts val="0"/>
              </a:spcAft>
              <a:defRPr sz="1200" b="0" i="0">
                <a:solidFill>
                  <a:srgbClr val="5D646E"/>
                </a:solidFill>
                <a:latin typeface="Arial"/>
              </a:defRPr>
            </a:pPr>
            <a:r>
              <a:t>13 tables • queries • transactions</a:t>
            </a:r>
          </a:p>
        </p:txBody>
      </p:sp>
      <p:sp>
        <p:nvSpPr>
          <p:cNvPr id="22" name="Rounded Rectangle 21"/>
          <p:cNvSpPr/>
          <p:nvPr/>
        </p:nvSpPr>
        <p:spPr>
          <a:xfrm>
            <a:off x="457200" y="2798064"/>
            <a:ext cx="2148840" cy="1417320"/>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 y="2907792"/>
            <a:ext cx="1892808" cy="320040"/>
          </a:xfrm>
          <a:prstGeom prst="rect">
            <a:avLst/>
          </a:prstGeom>
          <a:noFill/>
        </p:spPr>
        <p:txBody>
          <a:bodyPr wrap="square" lIns="36576" rIns="36576" tIns="36576" bIns="18288" anchor="t">
            <a:spAutoFit/>
          </a:bodyPr>
          <a:lstStyle/>
          <a:p>
            <a:pPr algn="l">
              <a:spcBef>
                <a:spcPts val="0"/>
              </a:spcBef>
              <a:spcAft>
                <a:spcPts val="0"/>
              </a:spcAft>
              <a:defRPr sz="1400" b="1" i="0">
                <a:solidFill>
                  <a:srgbClr val="27313D"/>
                </a:solidFill>
                <a:latin typeface="Arial"/>
              </a:defRPr>
            </a:pPr>
            <a:r>
              <a:t>Customer &amp; Admin</a:t>
            </a:r>
          </a:p>
        </p:txBody>
      </p:sp>
      <p:sp>
        <p:nvSpPr>
          <p:cNvPr id="24" name="TextBox 23"/>
          <p:cNvSpPr txBox="1"/>
          <p:nvPr/>
        </p:nvSpPr>
        <p:spPr>
          <a:xfrm>
            <a:off x="585216" y="3273552"/>
            <a:ext cx="1892808" cy="868680"/>
          </a:xfrm>
          <a:prstGeom prst="rect">
            <a:avLst/>
          </a:prstGeom>
          <a:noFill/>
        </p:spPr>
        <p:txBody>
          <a:bodyPr wrap="square" lIns="36576" rIns="36576" tIns="36576" bIns="18288" anchor="t">
            <a:spAutoFit/>
          </a:bodyPr>
          <a:lstStyle/>
          <a:p>
            <a:pPr algn="l">
              <a:spcBef>
                <a:spcPts val="0"/>
              </a:spcBef>
              <a:spcAft>
                <a:spcPts val="0"/>
              </a:spcAft>
              <a:defRPr sz="1200" b="0" i="0">
                <a:solidFill>
                  <a:srgbClr val="5D646E"/>
                </a:solidFill>
                <a:latin typeface="Arial"/>
              </a:defRPr>
            </a:pPr>
            <a:r>
              <a:t>Browse, book, manage shows and analytics</a:t>
            </a:r>
          </a:p>
        </p:txBody>
      </p:sp>
      <p:cxnSp>
        <p:nvCxnSpPr>
          <p:cNvPr id="25" name="Connector 24"/>
          <p:cNvCxnSpPr/>
          <p:nvPr/>
        </p:nvCxnSpPr>
        <p:spPr>
          <a:xfrm>
            <a:off x="2606040" y="3493008"/>
            <a:ext cx="292608" cy="0"/>
          </a:xfrm>
          <a:prstGeom prst="line">
            <a:avLst/>
          </a:prstGeom>
          <a:ln w="21590">
            <a:solidFill>
              <a:srgbClr val="5D646E"/>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528816" y="2770632"/>
            <a:ext cx="2148840" cy="1463040"/>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56831" y="2880360"/>
            <a:ext cx="1892808" cy="320040"/>
          </a:xfrm>
          <a:prstGeom prst="rect">
            <a:avLst/>
          </a:prstGeom>
          <a:noFill/>
        </p:spPr>
        <p:txBody>
          <a:bodyPr wrap="square" lIns="36576" rIns="36576" tIns="36576" bIns="18288" anchor="t">
            <a:spAutoFit/>
          </a:bodyPr>
          <a:lstStyle/>
          <a:p>
            <a:pPr algn="l">
              <a:spcBef>
                <a:spcPts val="0"/>
              </a:spcBef>
              <a:spcAft>
                <a:spcPts val="0"/>
              </a:spcAft>
              <a:defRPr sz="1400" b="1" i="0">
                <a:solidFill>
                  <a:srgbClr val="27313D"/>
                </a:solidFill>
                <a:latin typeface="Arial"/>
              </a:defRPr>
            </a:pPr>
            <a:r>
              <a:t>ML Recommender</a:t>
            </a:r>
          </a:p>
        </p:txBody>
      </p:sp>
      <p:sp>
        <p:nvSpPr>
          <p:cNvPr id="28" name="TextBox 27"/>
          <p:cNvSpPr txBox="1"/>
          <p:nvPr/>
        </p:nvSpPr>
        <p:spPr>
          <a:xfrm>
            <a:off x="6656831" y="3246120"/>
            <a:ext cx="1892808" cy="914400"/>
          </a:xfrm>
          <a:prstGeom prst="rect">
            <a:avLst/>
          </a:prstGeom>
          <a:noFill/>
        </p:spPr>
        <p:txBody>
          <a:bodyPr wrap="square" lIns="36576" rIns="36576" tIns="36576" bIns="18288" anchor="t">
            <a:spAutoFit/>
          </a:bodyPr>
          <a:lstStyle/>
          <a:p>
            <a:pPr algn="l">
              <a:spcBef>
                <a:spcPts val="0"/>
              </a:spcBef>
              <a:spcAft>
                <a:spcPts val="0"/>
              </a:spcAft>
              <a:defRPr sz="1200" b="0" i="0">
                <a:solidFill>
                  <a:srgbClr val="5D646E"/>
                </a:solidFill>
                <a:latin typeface="Arial"/>
              </a:defRPr>
            </a:pPr>
            <a:r>
              <a:t>TF-IDF • cosine similarity • user history</a:t>
            </a:r>
          </a:p>
        </p:txBody>
      </p:sp>
      <p:cxnSp>
        <p:nvCxnSpPr>
          <p:cNvPr id="29" name="Connector 28"/>
          <p:cNvCxnSpPr/>
          <p:nvPr/>
        </p:nvCxnSpPr>
        <p:spPr>
          <a:xfrm>
            <a:off x="6208776" y="3474720"/>
            <a:ext cx="301752" cy="0"/>
          </a:xfrm>
          <a:prstGeom prst="line">
            <a:avLst/>
          </a:prstGeom>
          <a:ln w="21590">
            <a:solidFill>
              <a:srgbClr val="5D646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0392" y="5404104"/>
            <a:ext cx="7452360" cy="493776"/>
          </a:xfrm>
          <a:prstGeom prst="rect">
            <a:avLst/>
          </a:prstGeom>
          <a:noFill/>
        </p:spPr>
        <p:txBody>
          <a:bodyPr wrap="square" lIns="36576" rIns="36576" tIns="36576" bIns="18288" anchor="t">
            <a:spAutoFit/>
          </a:bodyPr>
          <a:lstStyle/>
          <a:p>
            <a:pPr algn="ctr">
              <a:spcBef>
                <a:spcPts val="0"/>
              </a:spcBef>
              <a:spcAft>
                <a:spcPts val="0"/>
              </a:spcAft>
              <a:defRPr sz="1400" b="0" i="0">
                <a:solidFill>
                  <a:srgbClr val="5D646E"/>
                </a:solidFill>
                <a:latin typeface="Arial"/>
              </a:defRPr>
            </a:pPr>
            <a:r>
              <a:t>Flask exchanges SQL queries/results with MySQL and displays the returned data through Jinja templates.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System Design — ER Diagram</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8</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94360" y="1243584"/>
            <a:ext cx="2240280" cy="265176"/>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52728"/>
            <a:ext cx="2240280" cy="246887"/>
          </a:xfrm>
          <a:prstGeom prst="rect">
            <a:avLst/>
          </a:prstGeom>
          <a:noFill/>
        </p:spPr>
        <p:txBody>
          <a:bodyPr wrap="square" lIns="36576" rIns="36576" tIns="36576" bIns="18288" anchor="ctr">
            <a:spAutoFit/>
          </a:bodyPr>
          <a:lstStyle/>
          <a:p>
            <a:pPr algn="ctr">
              <a:spcBef>
                <a:spcPts val="0"/>
              </a:spcBef>
              <a:spcAft>
                <a:spcPts val="0"/>
              </a:spcAft>
              <a:defRPr sz="1000" b="1" i="0">
                <a:solidFill>
                  <a:srgbClr val="D94410"/>
                </a:solidFill>
                <a:latin typeface="Arial"/>
              </a:defRPr>
            </a:pPr>
            <a:r>
              <a:t>RELATIONAL MODEL</a:t>
            </a:r>
          </a:p>
        </p:txBody>
      </p:sp>
      <p:pic>
        <p:nvPicPr>
          <p:cNvPr id="11" name="Picture 10" descr="erd.png"/>
          <p:cNvPicPr>
            <a:picLocks noChangeAspect="1"/>
          </p:cNvPicPr>
          <p:nvPr/>
        </p:nvPicPr>
        <p:blipFill>
          <a:blip r:embed="rId3"/>
          <a:stretch>
            <a:fillRect/>
          </a:stretch>
        </p:blipFill>
        <p:spPr>
          <a:xfrm>
            <a:off x="475488" y="1700102"/>
            <a:ext cx="8202168" cy="3156043"/>
          </a:xfrm>
          <a:prstGeom prst="rect">
            <a:avLst/>
          </a:prstGeom>
        </p:spPr>
      </p:pic>
      <p:sp>
        <p:nvSpPr>
          <p:cNvPr id="12" name="Rounded Rectangle 11"/>
          <p:cNvSpPr/>
          <p:nvPr/>
        </p:nvSpPr>
        <p:spPr>
          <a:xfrm>
            <a:off x="640080" y="5065776"/>
            <a:ext cx="7863840" cy="66751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5257800"/>
            <a:ext cx="7470648" cy="265176"/>
          </a:xfrm>
          <a:prstGeom prst="rect">
            <a:avLst/>
          </a:prstGeom>
          <a:noFill/>
        </p:spPr>
        <p:txBody>
          <a:bodyPr wrap="square" lIns="36576" rIns="36576" tIns="36576" bIns="18288" anchor="t">
            <a:spAutoFit/>
          </a:bodyPr>
          <a:lstStyle/>
          <a:p>
            <a:pPr algn="ctr">
              <a:spcBef>
                <a:spcPts val="0"/>
              </a:spcBef>
              <a:spcAft>
                <a:spcPts val="0"/>
              </a:spcAft>
              <a:defRPr sz="1400" b="1" i="0">
                <a:solidFill>
                  <a:srgbClr val="27313D"/>
                </a:solidFill>
                <a:latin typeface="Arial"/>
              </a:defRPr>
            </a:pPr>
            <a:r>
              <a:t>13 tables  •  1:N relationships  •  M:N via movie_genres  •  Primary and Foreign Keys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Database Schema &amp; DBMS Features</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9</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67512" y="1325880"/>
            <a:ext cx="7891272" cy="987552"/>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435607"/>
            <a:ext cx="7635240" cy="320040"/>
          </a:xfrm>
          <a:prstGeom prst="rect">
            <a:avLst/>
          </a:prstGeom>
          <a:noFill/>
        </p:spPr>
        <p:txBody>
          <a:bodyPr wrap="square" lIns="36576" rIns="36576" tIns="36576" bIns="18288" anchor="t">
            <a:spAutoFit/>
          </a:bodyPr>
          <a:lstStyle/>
          <a:p>
            <a:pPr algn="l">
              <a:spcBef>
                <a:spcPts val="0"/>
              </a:spcBef>
              <a:spcAft>
                <a:spcPts val="0"/>
              </a:spcAft>
              <a:defRPr sz="1500" b="1" i="0">
                <a:solidFill>
                  <a:srgbClr val="27313D"/>
                </a:solidFill>
                <a:latin typeface="Arial"/>
              </a:defRPr>
            </a:pPr>
            <a:r>
              <a:t>NORMALIZATION</a:t>
            </a:r>
          </a:p>
        </p:txBody>
      </p:sp>
      <p:sp>
        <p:nvSpPr>
          <p:cNvPr id="11" name="TextBox 10"/>
          <p:cNvSpPr txBox="1"/>
          <p:nvPr/>
        </p:nvSpPr>
        <p:spPr>
          <a:xfrm>
            <a:off x="795528" y="1801368"/>
            <a:ext cx="7635240" cy="438912"/>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Structured tables, reduced duplication</a:t>
            </a:r>
          </a:p>
        </p:txBody>
      </p:sp>
      <p:sp>
        <p:nvSpPr>
          <p:cNvPr id="12" name="TextBox 11"/>
          <p:cNvSpPr txBox="1"/>
          <p:nvPr/>
        </p:nvSpPr>
        <p:spPr>
          <a:xfrm>
            <a:off x="4846320" y="1691640"/>
            <a:ext cx="3465576" cy="429768"/>
          </a:xfrm>
          <a:prstGeom prst="rect">
            <a:avLst/>
          </a:prstGeom>
          <a:noFill/>
        </p:spPr>
        <p:txBody>
          <a:bodyPr wrap="square" lIns="36576" rIns="36576" tIns="36576" bIns="18288" anchor="t">
            <a:spAutoFit/>
          </a:bodyPr>
          <a:lstStyle/>
          <a:p>
            <a:pPr algn="r">
              <a:spcBef>
                <a:spcPts val="0"/>
              </a:spcBef>
              <a:spcAft>
                <a:spcPts val="0"/>
              </a:spcAft>
              <a:defRPr sz="1200" b="1" i="0">
                <a:solidFill>
                  <a:srgbClr val="D94410"/>
                </a:solidFill>
                <a:latin typeface="Arial"/>
              </a:defRPr>
            </a:pPr>
            <a:r>
              <a:t>1NF → 2NF → 3NF</a:t>
            </a:r>
          </a:p>
        </p:txBody>
      </p:sp>
      <p:sp>
        <p:nvSpPr>
          <p:cNvPr id="13" name="Rounded Rectangle 12"/>
          <p:cNvSpPr/>
          <p:nvPr/>
        </p:nvSpPr>
        <p:spPr>
          <a:xfrm>
            <a:off x="667512" y="2414015"/>
            <a:ext cx="7891272" cy="987552"/>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2523744"/>
            <a:ext cx="7635240" cy="320040"/>
          </a:xfrm>
          <a:prstGeom prst="rect">
            <a:avLst/>
          </a:prstGeom>
          <a:noFill/>
        </p:spPr>
        <p:txBody>
          <a:bodyPr wrap="square" lIns="36576" rIns="36576" tIns="36576" bIns="18288" anchor="t">
            <a:spAutoFit/>
          </a:bodyPr>
          <a:lstStyle/>
          <a:p>
            <a:pPr algn="l">
              <a:spcBef>
                <a:spcPts val="0"/>
              </a:spcBef>
              <a:spcAft>
                <a:spcPts val="0"/>
              </a:spcAft>
              <a:defRPr sz="1500" b="1" i="0">
                <a:solidFill>
                  <a:srgbClr val="27313D"/>
                </a:solidFill>
                <a:latin typeface="Arial"/>
              </a:defRPr>
            </a:pPr>
            <a:r>
              <a:t>CONSTRAINTS</a:t>
            </a:r>
          </a:p>
        </p:txBody>
      </p:sp>
      <p:sp>
        <p:nvSpPr>
          <p:cNvPr id="15" name="TextBox 14"/>
          <p:cNvSpPr txBox="1"/>
          <p:nvPr/>
        </p:nvSpPr>
        <p:spPr>
          <a:xfrm>
            <a:off x="795528" y="2889503"/>
            <a:ext cx="7635240" cy="438912"/>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PK, FK and UNIQUE(show_id, seat_id)</a:t>
            </a:r>
          </a:p>
        </p:txBody>
      </p:sp>
      <p:sp>
        <p:nvSpPr>
          <p:cNvPr id="16" name="TextBox 15"/>
          <p:cNvSpPr txBox="1"/>
          <p:nvPr/>
        </p:nvSpPr>
        <p:spPr>
          <a:xfrm>
            <a:off x="4846320" y="2779775"/>
            <a:ext cx="3465576" cy="429768"/>
          </a:xfrm>
          <a:prstGeom prst="rect">
            <a:avLst/>
          </a:prstGeom>
          <a:noFill/>
        </p:spPr>
        <p:txBody>
          <a:bodyPr wrap="square" lIns="36576" rIns="36576" tIns="36576" bIns="18288" anchor="t">
            <a:spAutoFit/>
          </a:bodyPr>
          <a:lstStyle/>
          <a:p>
            <a:pPr algn="r">
              <a:spcBef>
                <a:spcPts val="0"/>
              </a:spcBef>
              <a:spcAft>
                <a:spcPts val="0"/>
              </a:spcAft>
              <a:defRPr sz="1200" b="1" i="0">
                <a:solidFill>
                  <a:srgbClr val="D94410"/>
                </a:solidFill>
                <a:latin typeface="Arial"/>
              </a:defRPr>
            </a:pPr>
            <a:r>
              <a:t>Prevents duplicate seat reservation</a:t>
            </a:r>
          </a:p>
        </p:txBody>
      </p:sp>
      <p:sp>
        <p:nvSpPr>
          <p:cNvPr id="17" name="Rounded Rectangle 16"/>
          <p:cNvSpPr/>
          <p:nvPr/>
        </p:nvSpPr>
        <p:spPr>
          <a:xfrm>
            <a:off x="667512" y="3502152"/>
            <a:ext cx="7891272" cy="987552"/>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3611880"/>
            <a:ext cx="7635240" cy="320040"/>
          </a:xfrm>
          <a:prstGeom prst="rect">
            <a:avLst/>
          </a:prstGeom>
          <a:noFill/>
        </p:spPr>
        <p:txBody>
          <a:bodyPr wrap="square" lIns="36576" rIns="36576" tIns="36576" bIns="18288" anchor="t">
            <a:spAutoFit/>
          </a:bodyPr>
          <a:lstStyle/>
          <a:p>
            <a:pPr algn="l">
              <a:spcBef>
                <a:spcPts val="0"/>
              </a:spcBef>
              <a:spcAft>
                <a:spcPts val="0"/>
              </a:spcAft>
              <a:defRPr sz="1500" b="1" i="0">
                <a:solidFill>
                  <a:srgbClr val="27313D"/>
                </a:solidFill>
                <a:latin typeface="Arial"/>
              </a:defRPr>
            </a:pPr>
            <a:r>
              <a:t>TRANSACTIONS</a:t>
            </a:r>
          </a:p>
        </p:txBody>
      </p:sp>
      <p:sp>
        <p:nvSpPr>
          <p:cNvPr id="19" name="TextBox 18"/>
          <p:cNvSpPr txBox="1"/>
          <p:nvPr/>
        </p:nvSpPr>
        <p:spPr>
          <a:xfrm>
            <a:off x="795528" y="3977639"/>
            <a:ext cx="7635240" cy="438912"/>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COMMIT and ROLLBACK</a:t>
            </a:r>
          </a:p>
        </p:txBody>
      </p:sp>
      <p:sp>
        <p:nvSpPr>
          <p:cNvPr id="20" name="TextBox 19"/>
          <p:cNvSpPr txBox="1"/>
          <p:nvPr/>
        </p:nvSpPr>
        <p:spPr>
          <a:xfrm>
            <a:off x="4846320" y="3867912"/>
            <a:ext cx="3465576" cy="429768"/>
          </a:xfrm>
          <a:prstGeom prst="rect">
            <a:avLst/>
          </a:prstGeom>
          <a:noFill/>
        </p:spPr>
        <p:txBody>
          <a:bodyPr wrap="square" lIns="36576" rIns="36576" tIns="36576" bIns="18288" anchor="t">
            <a:spAutoFit/>
          </a:bodyPr>
          <a:lstStyle/>
          <a:p>
            <a:pPr algn="r">
              <a:spcBef>
                <a:spcPts val="0"/>
              </a:spcBef>
              <a:spcAft>
                <a:spcPts val="0"/>
              </a:spcAft>
              <a:defRPr sz="1200" b="1" i="0">
                <a:solidFill>
                  <a:srgbClr val="D94410"/>
                </a:solidFill>
                <a:latin typeface="Arial"/>
              </a:defRPr>
            </a:pPr>
            <a:r>
              <a:t>Booking and cancellation integrity</a:t>
            </a:r>
          </a:p>
        </p:txBody>
      </p:sp>
      <p:sp>
        <p:nvSpPr>
          <p:cNvPr id="21" name="Rounded Rectangle 20"/>
          <p:cNvSpPr/>
          <p:nvPr/>
        </p:nvSpPr>
        <p:spPr>
          <a:xfrm>
            <a:off x="667512" y="4590288"/>
            <a:ext cx="7891272" cy="987552"/>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4700016"/>
            <a:ext cx="7635240" cy="320040"/>
          </a:xfrm>
          <a:prstGeom prst="rect">
            <a:avLst/>
          </a:prstGeom>
          <a:noFill/>
        </p:spPr>
        <p:txBody>
          <a:bodyPr wrap="square" lIns="36576" rIns="36576" tIns="36576" bIns="18288" anchor="t">
            <a:spAutoFit/>
          </a:bodyPr>
          <a:lstStyle/>
          <a:p>
            <a:pPr algn="l">
              <a:spcBef>
                <a:spcPts val="0"/>
              </a:spcBef>
              <a:spcAft>
                <a:spcPts val="0"/>
              </a:spcAft>
              <a:defRPr sz="1500" b="1" i="0">
                <a:solidFill>
                  <a:srgbClr val="27313D"/>
                </a:solidFill>
                <a:latin typeface="Arial"/>
              </a:defRPr>
            </a:pPr>
            <a:r>
              <a:t>SQL OBJECTS</a:t>
            </a:r>
          </a:p>
        </p:txBody>
      </p:sp>
      <p:sp>
        <p:nvSpPr>
          <p:cNvPr id="23" name="TextBox 22"/>
          <p:cNvSpPr txBox="1"/>
          <p:nvPr/>
        </p:nvSpPr>
        <p:spPr>
          <a:xfrm>
            <a:off x="795528" y="5065775"/>
            <a:ext cx="7635240" cy="438912"/>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Procedure, function, trigger and view</a:t>
            </a:r>
          </a:p>
        </p:txBody>
      </p:sp>
      <p:sp>
        <p:nvSpPr>
          <p:cNvPr id="24" name="TextBox 23"/>
          <p:cNvSpPr txBox="1"/>
          <p:nvPr/>
        </p:nvSpPr>
        <p:spPr>
          <a:xfrm>
            <a:off x="4846320" y="4956048"/>
            <a:ext cx="3465576" cy="429768"/>
          </a:xfrm>
          <a:prstGeom prst="rect">
            <a:avLst/>
          </a:prstGeom>
          <a:noFill/>
        </p:spPr>
        <p:txBody>
          <a:bodyPr wrap="square" lIns="36576" rIns="36576" tIns="36576" bIns="18288" anchor="t">
            <a:spAutoFit/>
          </a:bodyPr>
          <a:lstStyle/>
          <a:p>
            <a:pPr algn="r">
              <a:spcBef>
                <a:spcPts val="0"/>
              </a:spcBef>
              <a:spcAft>
                <a:spcPts val="0"/>
              </a:spcAft>
              <a:defRPr sz="1200" b="1" i="0">
                <a:solidFill>
                  <a:srgbClr val="D94410"/>
                </a:solidFill>
                <a:latin typeface="Arial"/>
              </a:defRPr>
            </a:pPr>
            <a:r>
              <a:t>create_booking • calculate_ticket_price • trg_payment_success • movie_ratings_view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System Implementation — Booking Flow</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10</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94360" y="1243584"/>
            <a:ext cx="2240280" cy="265176"/>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52728"/>
            <a:ext cx="2240280" cy="246887"/>
          </a:xfrm>
          <a:prstGeom prst="rect">
            <a:avLst/>
          </a:prstGeom>
          <a:noFill/>
        </p:spPr>
        <p:txBody>
          <a:bodyPr wrap="square" lIns="36576" rIns="36576" tIns="36576" bIns="18288" anchor="ctr">
            <a:spAutoFit/>
          </a:bodyPr>
          <a:lstStyle/>
          <a:p>
            <a:pPr algn="ctr">
              <a:spcBef>
                <a:spcPts val="0"/>
              </a:spcBef>
              <a:spcAft>
                <a:spcPts val="0"/>
              </a:spcAft>
              <a:defRPr sz="1000" b="1" i="0">
                <a:solidFill>
                  <a:srgbClr val="D94410"/>
                </a:solidFill>
                <a:latin typeface="Arial"/>
              </a:defRPr>
            </a:pPr>
            <a:r>
              <a:t>CUSTOMER WORKFLOW</a:t>
            </a:r>
          </a:p>
        </p:txBody>
      </p:sp>
      <p:sp>
        <p:nvSpPr>
          <p:cNvPr id="11" name="Rounded Rectangle 10"/>
          <p:cNvSpPr/>
          <p:nvPr/>
        </p:nvSpPr>
        <p:spPr>
          <a:xfrm>
            <a:off x="457200" y="1965960"/>
            <a:ext cx="1234440" cy="1207008"/>
          </a:xfrm>
          <a:prstGeom prst="roundRect">
            <a:avLst/>
          </a:prstGeom>
          <a:solidFill>
            <a:srgbClr val="FEF5F0"/>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2121408"/>
            <a:ext cx="41148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130551"/>
            <a:ext cx="411480" cy="329184"/>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D94410"/>
                </a:solidFill>
                <a:latin typeface="Arial"/>
              </a:defRPr>
            </a:pPr>
            <a:r>
              <a:t>1</a:t>
            </a:r>
          </a:p>
        </p:txBody>
      </p:sp>
      <p:sp>
        <p:nvSpPr>
          <p:cNvPr id="14" name="TextBox 13"/>
          <p:cNvSpPr txBox="1"/>
          <p:nvPr/>
        </p:nvSpPr>
        <p:spPr>
          <a:xfrm>
            <a:off x="539496" y="2587752"/>
            <a:ext cx="1069848" cy="384048"/>
          </a:xfrm>
          <a:prstGeom prst="rect">
            <a:avLst/>
          </a:prstGeom>
          <a:noFill/>
        </p:spPr>
        <p:txBody>
          <a:bodyPr wrap="square" lIns="36576" rIns="36576" tIns="36576" bIns="18288" anchor="t">
            <a:spAutoFit/>
          </a:bodyPr>
          <a:lstStyle/>
          <a:p>
            <a:pPr algn="ctr">
              <a:spcBef>
                <a:spcPts val="0"/>
              </a:spcBef>
              <a:spcAft>
                <a:spcPts val="0"/>
              </a:spcAft>
              <a:defRPr sz="1250" b="1" i="0">
                <a:solidFill>
                  <a:srgbClr val="27313D"/>
                </a:solidFill>
                <a:latin typeface="Arial"/>
              </a:defRPr>
            </a:pPr>
            <a:r>
              <a:t>Login</a:t>
            </a:r>
          </a:p>
        </p:txBody>
      </p:sp>
      <p:sp>
        <p:nvSpPr>
          <p:cNvPr id="15" name="TextBox 14"/>
          <p:cNvSpPr txBox="1"/>
          <p:nvPr/>
        </p:nvSpPr>
        <p:spPr>
          <a:xfrm>
            <a:off x="1691640" y="2386584"/>
            <a:ext cx="155448" cy="310896"/>
          </a:xfrm>
          <a:prstGeom prst="rect">
            <a:avLst/>
          </a:prstGeom>
          <a:noFill/>
        </p:spPr>
        <p:txBody>
          <a:bodyPr wrap="square" lIns="36576" rIns="36576" tIns="36576" bIns="18288" anchor="t">
            <a:spAutoFit/>
          </a:bodyPr>
          <a:lstStyle/>
          <a:p>
            <a:pPr algn="ctr">
              <a:spcBef>
                <a:spcPts val="0"/>
              </a:spcBef>
              <a:spcAft>
                <a:spcPts val="0"/>
              </a:spcAft>
              <a:defRPr sz="2000" b="1" i="0">
                <a:solidFill>
                  <a:srgbClr val="D94410"/>
                </a:solidFill>
                <a:latin typeface="Arial"/>
              </a:defRPr>
            </a:pPr>
            <a:r>
              <a:t>›</a:t>
            </a:r>
          </a:p>
        </p:txBody>
      </p:sp>
      <p:sp>
        <p:nvSpPr>
          <p:cNvPr id="16" name="Rounded Rectangle 15"/>
          <p:cNvSpPr/>
          <p:nvPr/>
        </p:nvSpPr>
        <p:spPr>
          <a:xfrm>
            <a:off x="1837943" y="1965960"/>
            <a:ext cx="1234440" cy="1207008"/>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249424" y="2121408"/>
            <a:ext cx="41148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49424" y="2130551"/>
            <a:ext cx="411480" cy="329184"/>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D94410"/>
                </a:solidFill>
                <a:latin typeface="Arial"/>
              </a:defRPr>
            </a:pPr>
            <a:r>
              <a:t>2</a:t>
            </a:r>
          </a:p>
        </p:txBody>
      </p:sp>
      <p:sp>
        <p:nvSpPr>
          <p:cNvPr id="19" name="TextBox 18"/>
          <p:cNvSpPr txBox="1"/>
          <p:nvPr/>
        </p:nvSpPr>
        <p:spPr>
          <a:xfrm>
            <a:off x="1920239" y="2587752"/>
            <a:ext cx="1069848" cy="384048"/>
          </a:xfrm>
          <a:prstGeom prst="rect">
            <a:avLst/>
          </a:prstGeom>
          <a:noFill/>
        </p:spPr>
        <p:txBody>
          <a:bodyPr wrap="square" lIns="36576" rIns="36576" tIns="36576" bIns="18288" anchor="t">
            <a:spAutoFit/>
          </a:bodyPr>
          <a:lstStyle/>
          <a:p>
            <a:pPr algn="ctr">
              <a:spcBef>
                <a:spcPts val="0"/>
              </a:spcBef>
              <a:spcAft>
                <a:spcPts val="0"/>
              </a:spcAft>
              <a:defRPr sz="1250" b="1" i="0">
                <a:solidFill>
                  <a:srgbClr val="27313D"/>
                </a:solidFill>
                <a:latin typeface="Arial"/>
              </a:defRPr>
            </a:pPr>
            <a:r>
              <a:t>Select movie</a:t>
            </a:r>
          </a:p>
        </p:txBody>
      </p:sp>
      <p:sp>
        <p:nvSpPr>
          <p:cNvPr id="20" name="TextBox 19"/>
          <p:cNvSpPr txBox="1"/>
          <p:nvPr/>
        </p:nvSpPr>
        <p:spPr>
          <a:xfrm>
            <a:off x="3072384" y="2386584"/>
            <a:ext cx="155448" cy="310896"/>
          </a:xfrm>
          <a:prstGeom prst="rect">
            <a:avLst/>
          </a:prstGeom>
          <a:noFill/>
        </p:spPr>
        <p:txBody>
          <a:bodyPr wrap="square" lIns="36576" rIns="36576" tIns="36576" bIns="18288" anchor="t">
            <a:spAutoFit/>
          </a:bodyPr>
          <a:lstStyle/>
          <a:p>
            <a:pPr algn="ctr">
              <a:spcBef>
                <a:spcPts val="0"/>
              </a:spcBef>
              <a:spcAft>
                <a:spcPts val="0"/>
              </a:spcAft>
              <a:defRPr sz="2000" b="1" i="0">
                <a:solidFill>
                  <a:srgbClr val="D94410"/>
                </a:solidFill>
                <a:latin typeface="Arial"/>
              </a:defRPr>
            </a:pPr>
            <a:r>
              <a:t>›</a:t>
            </a:r>
          </a:p>
        </p:txBody>
      </p:sp>
      <p:sp>
        <p:nvSpPr>
          <p:cNvPr id="21" name="Rounded Rectangle 20"/>
          <p:cNvSpPr/>
          <p:nvPr/>
        </p:nvSpPr>
        <p:spPr>
          <a:xfrm>
            <a:off x="3218688" y="1965960"/>
            <a:ext cx="1234440" cy="1207008"/>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630168" y="2121408"/>
            <a:ext cx="41148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0168" y="2130551"/>
            <a:ext cx="411480" cy="329184"/>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D94410"/>
                </a:solidFill>
                <a:latin typeface="Arial"/>
              </a:defRPr>
            </a:pPr>
            <a:r>
              <a:t>3</a:t>
            </a:r>
          </a:p>
        </p:txBody>
      </p:sp>
      <p:sp>
        <p:nvSpPr>
          <p:cNvPr id="24" name="TextBox 23"/>
          <p:cNvSpPr txBox="1"/>
          <p:nvPr/>
        </p:nvSpPr>
        <p:spPr>
          <a:xfrm>
            <a:off x="3300984" y="2587752"/>
            <a:ext cx="1069848" cy="384048"/>
          </a:xfrm>
          <a:prstGeom prst="rect">
            <a:avLst/>
          </a:prstGeom>
          <a:noFill/>
        </p:spPr>
        <p:txBody>
          <a:bodyPr wrap="square" lIns="36576" rIns="36576" tIns="36576" bIns="18288" anchor="t">
            <a:spAutoFit/>
          </a:bodyPr>
          <a:lstStyle/>
          <a:p>
            <a:pPr algn="ctr">
              <a:spcBef>
                <a:spcPts val="0"/>
              </a:spcBef>
              <a:spcAft>
                <a:spcPts val="0"/>
              </a:spcAft>
              <a:defRPr sz="1250" b="1" i="0">
                <a:solidFill>
                  <a:srgbClr val="27313D"/>
                </a:solidFill>
                <a:latin typeface="Arial"/>
              </a:defRPr>
            </a:pPr>
            <a:r>
              <a:t>Choose show</a:t>
            </a:r>
          </a:p>
        </p:txBody>
      </p:sp>
      <p:sp>
        <p:nvSpPr>
          <p:cNvPr id="25" name="TextBox 24"/>
          <p:cNvSpPr txBox="1"/>
          <p:nvPr/>
        </p:nvSpPr>
        <p:spPr>
          <a:xfrm>
            <a:off x="4453128" y="2386584"/>
            <a:ext cx="155448" cy="310896"/>
          </a:xfrm>
          <a:prstGeom prst="rect">
            <a:avLst/>
          </a:prstGeom>
          <a:noFill/>
        </p:spPr>
        <p:txBody>
          <a:bodyPr wrap="square" lIns="36576" rIns="36576" tIns="36576" bIns="18288" anchor="t">
            <a:spAutoFit/>
          </a:bodyPr>
          <a:lstStyle/>
          <a:p>
            <a:pPr algn="ctr">
              <a:spcBef>
                <a:spcPts val="0"/>
              </a:spcBef>
              <a:spcAft>
                <a:spcPts val="0"/>
              </a:spcAft>
              <a:defRPr sz="2000" b="1" i="0">
                <a:solidFill>
                  <a:srgbClr val="D94410"/>
                </a:solidFill>
                <a:latin typeface="Arial"/>
              </a:defRPr>
            </a:pPr>
            <a:r>
              <a:t>›</a:t>
            </a:r>
          </a:p>
        </p:txBody>
      </p:sp>
      <p:sp>
        <p:nvSpPr>
          <p:cNvPr id="26" name="Rounded Rectangle 25"/>
          <p:cNvSpPr/>
          <p:nvPr/>
        </p:nvSpPr>
        <p:spPr>
          <a:xfrm>
            <a:off x="4599432" y="1965960"/>
            <a:ext cx="1234440" cy="1207008"/>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10912" y="2121408"/>
            <a:ext cx="41148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10912" y="2130551"/>
            <a:ext cx="411480" cy="329184"/>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D94410"/>
                </a:solidFill>
                <a:latin typeface="Arial"/>
              </a:defRPr>
            </a:pPr>
            <a:r>
              <a:t>4</a:t>
            </a:r>
          </a:p>
        </p:txBody>
      </p:sp>
      <p:sp>
        <p:nvSpPr>
          <p:cNvPr id="29" name="TextBox 28"/>
          <p:cNvSpPr txBox="1"/>
          <p:nvPr/>
        </p:nvSpPr>
        <p:spPr>
          <a:xfrm>
            <a:off x="4681728" y="2587752"/>
            <a:ext cx="1069848" cy="384048"/>
          </a:xfrm>
          <a:prstGeom prst="rect">
            <a:avLst/>
          </a:prstGeom>
          <a:noFill/>
        </p:spPr>
        <p:txBody>
          <a:bodyPr wrap="square" lIns="36576" rIns="36576" tIns="36576" bIns="18288" anchor="t">
            <a:spAutoFit/>
          </a:bodyPr>
          <a:lstStyle/>
          <a:p>
            <a:pPr algn="ctr">
              <a:spcBef>
                <a:spcPts val="0"/>
              </a:spcBef>
              <a:spcAft>
                <a:spcPts val="0"/>
              </a:spcAft>
              <a:defRPr sz="1250" b="1" i="0">
                <a:solidFill>
                  <a:srgbClr val="27313D"/>
                </a:solidFill>
                <a:latin typeface="Arial"/>
              </a:defRPr>
            </a:pPr>
            <a:r>
              <a:t>Pick seats</a:t>
            </a:r>
          </a:p>
        </p:txBody>
      </p:sp>
      <p:sp>
        <p:nvSpPr>
          <p:cNvPr id="30" name="TextBox 29"/>
          <p:cNvSpPr txBox="1"/>
          <p:nvPr/>
        </p:nvSpPr>
        <p:spPr>
          <a:xfrm>
            <a:off x="5833872" y="2386584"/>
            <a:ext cx="155448" cy="310896"/>
          </a:xfrm>
          <a:prstGeom prst="rect">
            <a:avLst/>
          </a:prstGeom>
          <a:noFill/>
        </p:spPr>
        <p:txBody>
          <a:bodyPr wrap="square" lIns="36576" rIns="36576" tIns="36576" bIns="18288" anchor="t">
            <a:spAutoFit/>
          </a:bodyPr>
          <a:lstStyle/>
          <a:p>
            <a:pPr algn="ctr">
              <a:spcBef>
                <a:spcPts val="0"/>
              </a:spcBef>
              <a:spcAft>
                <a:spcPts val="0"/>
              </a:spcAft>
              <a:defRPr sz="2000" b="1" i="0">
                <a:solidFill>
                  <a:srgbClr val="D94410"/>
                </a:solidFill>
                <a:latin typeface="Arial"/>
              </a:defRPr>
            </a:pPr>
            <a:r>
              <a:t>›</a:t>
            </a:r>
          </a:p>
        </p:txBody>
      </p:sp>
      <p:sp>
        <p:nvSpPr>
          <p:cNvPr id="31" name="Rounded Rectangle 30"/>
          <p:cNvSpPr/>
          <p:nvPr/>
        </p:nvSpPr>
        <p:spPr>
          <a:xfrm>
            <a:off x="5980176" y="1965960"/>
            <a:ext cx="1234440" cy="1207008"/>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391656" y="2121408"/>
            <a:ext cx="41148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91656" y="2130551"/>
            <a:ext cx="411480" cy="329184"/>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D94410"/>
                </a:solidFill>
                <a:latin typeface="Arial"/>
              </a:defRPr>
            </a:pPr>
            <a:r>
              <a:t>5</a:t>
            </a:r>
          </a:p>
        </p:txBody>
      </p:sp>
      <p:sp>
        <p:nvSpPr>
          <p:cNvPr id="34" name="TextBox 33"/>
          <p:cNvSpPr txBox="1"/>
          <p:nvPr/>
        </p:nvSpPr>
        <p:spPr>
          <a:xfrm>
            <a:off x="6062472" y="2587752"/>
            <a:ext cx="1069848" cy="384048"/>
          </a:xfrm>
          <a:prstGeom prst="rect">
            <a:avLst/>
          </a:prstGeom>
          <a:noFill/>
        </p:spPr>
        <p:txBody>
          <a:bodyPr wrap="square" lIns="36576" rIns="36576" tIns="36576" bIns="18288" anchor="t">
            <a:spAutoFit/>
          </a:bodyPr>
          <a:lstStyle/>
          <a:p>
            <a:pPr algn="ctr">
              <a:spcBef>
                <a:spcPts val="0"/>
              </a:spcBef>
              <a:spcAft>
                <a:spcPts val="0"/>
              </a:spcAft>
              <a:defRPr sz="1250" b="1" i="0">
                <a:solidFill>
                  <a:srgbClr val="27313D"/>
                </a:solidFill>
                <a:latin typeface="Arial"/>
              </a:defRPr>
            </a:pPr>
            <a:r>
              <a:t>Pending booking</a:t>
            </a:r>
          </a:p>
        </p:txBody>
      </p:sp>
      <p:sp>
        <p:nvSpPr>
          <p:cNvPr id="35" name="TextBox 34"/>
          <p:cNvSpPr txBox="1"/>
          <p:nvPr/>
        </p:nvSpPr>
        <p:spPr>
          <a:xfrm>
            <a:off x="7214616" y="2386584"/>
            <a:ext cx="155448" cy="310896"/>
          </a:xfrm>
          <a:prstGeom prst="rect">
            <a:avLst/>
          </a:prstGeom>
          <a:noFill/>
        </p:spPr>
        <p:txBody>
          <a:bodyPr wrap="square" lIns="36576" rIns="36576" tIns="36576" bIns="18288" anchor="t">
            <a:spAutoFit/>
          </a:bodyPr>
          <a:lstStyle/>
          <a:p>
            <a:pPr algn="ctr">
              <a:spcBef>
                <a:spcPts val="0"/>
              </a:spcBef>
              <a:spcAft>
                <a:spcPts val="0"/>
              </a:spcAft>
              <a:defRPr sz="2000" b="1" i="0">
                <a:solidFill>
                  <a:srgbClr val="D94410"/>
                </a:solidFill>
                <a:latin typeface="Arial"/>
              </a:defRPr>
            </a:pPr>
            <a:r>
              <a:t>›</a:t>
            </a:r>
          </a:p>
        </p:txBody>
      </p:sp>
      <p:sp>
        <p:nvSpPr>
          <p:cNvPr id="36" name="Rounded Rectangle 35"/>
          <p:cNvSpPr/>
          <p:nvPr/>
        </p:nvSpPr>
        <p:spPr>
          <a:xfrm>
            <a:off x="7360920" y="1965960"/>
            <a:ext cx="1234440" cy="1207008"/>
          </a:xfrm>
          <a:prstGeom prst="roundRect">
            <a:avLst/>
          </a:prstGeom>
          <a:solidFill>
            <a:srgbClr val="FEF5F0"/>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772400" y="2121408"/>
            <a:ext cx="41148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0" y="2130551"/>
            <a:ext cx="411480" cy="329184"/>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D94410"/>
                </a:solidFill>
                <a:latin typeface="Arial"/>
              </a:defRPr>
            </a:pPr>
            <a:r>
              <a:t>6</a:t>
            </a:r>
          </a:p>
        </p:txBody>
      </p:sp>
      <p:sp>
        <p:nvSpPr>
          <p:cNvPr id="39" name="TextBox 38"/>
          <p:cNvSpPr txBox="1"/>
          <p:nvPr/>
        </p:nvSpPr>
        <p:spPr>
          <a:xfrm>
            <a:off x="7443216" y="2587752"/>
            <a:ext cx="1069848" cy="384048"/>
          </a:xfrm>
          <a:prstGeom prst="rect">
            <a:avLst/>
          </a:prstGeom>
          <a:noFill/>
        </p:spPr>
        <p:txBody>
          <a:bodyPr wrap="square" lIns="36576" rIns="36576" tIns="36576" bIns="18288" anchor="t">
            <a:spAutoFit/>
          </a:bodyPr>
          <a:lstStyle/>
          <a:p>
            <a:pPr algn="ctr">
              <a:spcBef>
                <a:spcPts val="0"/>
              </a:spcBef>
              <a:spcAft>
                <a:spcPts val="0"/>
              </a:spcAft>
              <a:defRPr sz="1250" b="1" i="0">
                <a:solidFill>
                  <a:srgbClr val="27313D"/>
                </a:solidFill>
                <a:latin typeface="Arial"/>
              </a:defRPr>
            </a:pPr>
            <a:r>
              <a:t>Pay → Confirm</a:t>
            </a:r>
          </a:p>
        </p:txBody>
      </p:sp>
      <p:sp>
        <p:nvSpPr>
          <p:cNvPr id="40" name="Rounded Rectangle 39"/>
          <p:cNvSpPr/>
          <p:nvPr/>
        </p:nvSpPr>
        <p:spPr>
          <a:xfrm>
            <a:off x="685800" y="3794760"/>
            <a:ext cx="3822191" cy="1161288"/>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3816" y="3904488"/>
            <a:ext cx="3566159" cy="320040"/>
          </a:xfrm>
          <a:prstGeom prst="rect">
            <a:avLst/>
          </a:prstGeom>
          <a:noFill/>
        </p:spPr>
        <p:txBody>
          <a:bodyPr wrap="square" lIns="36576" rIns="36576" tIns="36576" bIns="18288" anchor="t">
            <a:spAutoFit/>
          </a:bodyPr>
          <a:lstStyle/>
          <a:p>
            <a:pPr algn="l">
              <a:spcBef>
                <a:spcPts val="0"/>
              </a:spcBef>
              <a:spcAft>
                <a:spcPts val="0"/>
              </a:spcAft>
              <a:defRPr sz="1600" b="1" i="0">
                <a:solidFill>
                  <a:srgbClr val="27313D"/>
                </a:solidFill>
                <a:latin typeface="Arial"/>
              </a:defRPr>
            </a:pPr>
            <a:r>
              <a:t>Server-side checks</a:t>
            </a:r>
          </a:p>
        </p:txBody>
      </p:sp>
      <p:sp>
        <p:nvSpPr>
          <p:cNvPr id="42" name="TextBox 41"/>
          <p:cNvSpPr txBox="1"/>
          <p:nvPr/>
        </p:nvSpPr>
        <p:spPr>
          <a:xfrm>
            <a:off x="813816" y="4270248"/>
            <a:ext cx="3566159" cy="612648"/>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Validate screen, show and seat availability.</a:t>
            </a:r>
          </a:p>
        </p:txBody>
      </p:sp>
      <p:sp>
        <p:nvSpPr>
          <p:cNvPr id="43" name="Rounded Rectangle 42"/>
          <p:cNvSpPr/>
          <p:nvPr/>
        </p:nvSpPr>
        <p:spPr>
          <a:xfrm>
            <a:off x="4709160" y="3794760"/>
            <a:ext cx="3730752" cy="1161288"/>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37176" y="3904488"/>
            <a:ext cx="3474720" cy="320040"/>
          </a:xfrm>
          <a:prstGeom prst="rect">
            <a:avLst/>
          </a:prstGeom>
          <a:noFill/>
        </p:spPr>
        <p:txBody>
          <a:bodyPr wrap="square" lIns="36576" rIns="36576" tIns="36576" bIns="18288" anchor="t">
            <a:spAutoFit/>
          </a:bodyPr>
          <a:lstStyle/>
          <a:p>
            <a:pPr algn="l">
              <a:spcBef>
                <a:spcPts val="0"/>
              </a:spcBef>
              <a:spcAft>
                <a:spcPts val="0"/>
              </a:spcAft>
              <a:defRPr sz="1600" b="1" i="0">
                <a:solidFill>
                  <a:srgbClr val="27313D"/>
                </a:solidFill>
                <a:latin typeface="Arial"/>
              </a:defRPr>
            </a:pPr>
            <a:r>
              <a:t>Safe database booking</a:t>
            </a:r>
          </a:p>
        </p:txBody>
      </p:sp>
      <p:sp>
        <p:nvSpPr>
          <p:cNvPr id="45" name="TextBox 44"/>
          <p:cNvSpPr txBox="1"/>
          <p:nvPr/>
        </p:nvSpPr>
        <p:spPr>
          <a:xfrm>
            <a:off x="4837176" y="4270248"/>
            <a:ext cx="3474720" cy="612648"/>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Unique seat constraint + transaction rollback.</a:t>
            </a:r>
          </a:p>
        </p:txBody>
      </p:sp>
      <p:sp>
        <p:nvSpPr>
          <p:cNvPr id="46" name="TextBox 45"/>
          <p:cNvSpPr txBox="1"/>
          <p:nvPr/>
        </p:nvSpPr>
        <p:spPr>
          <a:xfrm>
            <a:off x="758952" y="5394960"/>
            <a:ext cx="7680960" cy="347472"/>
          </a:xfrm>
          <a:prstGeom prst="rect">
            <a:avLst/>
          </a:prstGeom>
          <a:noFill/>
        </p:spPr>
        <p:txBody>
          <a:bodyPr wrap="square" lIns="36576" rIns="36576" tIns="36576" bIns="18288" anchor="t">
            <a:spAutoFit/>
          </a:bodyPr>
          <a:lstStyle/>
          <a:p>
            <a:pPr algn="ctr">
              <a:spcBef>
                <a:spcPts val="0"/>
              </a:spcBef>
              <a:spcAft>
                <a:spcPts val="0"/>
              </a:spcAft>
              <a:defRPr sz="1400" b="1" i="0">
                <a:solidFill>
                  <a:srgbClr val="D94410"/>
                </a:solidFill>
                <a:latin typeface="Arial"/>
              </a:defRPr>
            </a:pPr>
            <a:r>
              <a:t>Payment is simulated; a successful payment insert triggers booking confirmation.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Dynamic Ticket Pricing</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11</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94360" y="1243584"/>
            <a:ext cx="2240280" cy="265176"/>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52728"/>
            <a:ext cx="2240280" cy="246887"/>
          </a:xfrm>
          <a:prstGeom prst="rect">
            <a:avLst/>
          </a:prstGeom>
          <a:noFill/>
        </p:spPr>
        <p:txBody>
          <a:bodyPr wrap="square" lIns="36576" rIns="36576" tIns="36576" bIns="18288" anchor="ctr">
            <a:spAutoFit/>
          </a:bodyPr>
          <a:lstStyle/>
          <a:p>
            <a:pPr algn="ctr">
              <a:spcBef>
                <a:spcPts val="0"/>
              </a:spcBef>
              <a:spcAft>
                <a:spcPts val="0"/>
              </a:spcAft>
              <a:defRPr sz="1000" b="1" i="0">
                <a:solidFill>
                  <a:srgbClr val="D94410"/>
                </a:solidFill>
                <a:latin typeface="Arial"/>
              </a:defRPr>
            </a:pPr>
            <a:r>
              <a:t>MYSQL CALCULATE_TICKET_PRICE(SHOW_ID)</a:t>
            </a:r>
          </a:p>
        </p:txBody>
      </p:sp>
      <p:sp>
        <p:nvSpPr>
          <p:cNvPr id="11" name="TextBox 10"/>
          <p:cNvSpPr txBox="1"/>
          <p:nvPr/>
        </p:nvSpPr>
        <p:spPr>
          <a:xfrm>
            <a:off x="722376" y="1728216"/>
            <a:ext cx="7671816" cy="411480"/>
          </a:xfrm>
          <a:prstGeom prst="rect">
            <a:avLst/>
          </a:prstGeom>
          <a:noFill/>
        </p:spPr>
        <p:txBody>
          <a:bodyPr wrap="square" lIns="36576" rIns="36576" tIns="36576" bIns="18288" anchor="t">
            <a:spAutoFit/>
          </a:bodyPr>
          <a:lstStyle/>
          <a:p>
            <a:pPr algn="l">
              <a:spcBef>
                <a:spcPts val="0"/>
              </a:spcBef>
              <a:spcAft>
                <a:spcPts val="0"/>
              </a:spcAft>
              <a:defRPr sz="1800" b="1" i="0">
                <a:solidFill>
                  <a:srgbClr val="27313D"/>
                </a:solidFill>
                <a:latin typeface="Arial"/>
              </a:defRPr>
            </a:pPr>
            <a:r>
              <a:t>Occupancy = booked seats ÷ actual seats × 100</a:t>
            </a:r>
          </a:p>
        </p:txBody>
      </p:sp>
      <p:sp>
        <p:nvSpPr>
          <p:cNvPr id="12" name="Rounded Rectangle 11"/>
          <p:cNvSpPr/>
          <p:nvPr/>
        </p:nvSpPr>
        <p:spPr>
          <a:xfrm>
            <a:off x="886968" y="2414016"/>
            <a:ext cx="466344" cy="457200"/>
          </a:xfrm>
          <a:prstGeom prst="roundRect">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36192" y="2414016"/>
            <a:ext cx="466344" cy="457200"/>
          </a:xfrm>
          <a:prstGeom prst="roundRect">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185415" y="2414016"/>
            <a:ext cx="466344" cy="457200"/>
          </a:xfrm>
          <a:prstGeom prst="roundRect">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34639" y="2414016"/>
            <a:ext cx="466344" cy="457200"/>
          </a:xfrm>
          <a:prstGeom prst="roundRect">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83863" y="2414016"/>
            <a:ext cx="466344" cy="457200"/>
          </a:xfrm>
          <a:prstGeom prst="roundRect">
            <a:avLst/>
          </a:prstGeom>
          <a:solidFill>
            <a:srgbClr val="E2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133087" y="2414016"/>
            <a:ext cx="466344" cy="457200"/>
          </a:xfrm>
          <a:prstGeom prst="roundRect">
            <a:avLst/>
          </a:prstGeom>
          <a:solidFill>
            <a:srgbClr val="E2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782312" y="2414016"/>
            <a:ext cx="466344" cy="457200"/>
          </a:xfrm>
          <a:prstGeom prst="roundRect">
            <a:avLst/>
          </a:prstGeom>
          <a:solidFill>
            <a:srgbClr val="E2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31536" y="2414016"/>
            <a:ext cx="466344" cy="457200"/>
          </a:xfrm>
          <a:prstGeom prst="roundRect">
            <a:avLst/>
          </a:prstGeom>
          <a:solidFill>
            <a:srgbClr val="E2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080759" y="2414016"/>
            <a:ext cx="466344" cy="457200"/>
          </a:xfrm>
          <a:prstGeom prst="roundRect">
            <a:avLst/>
          </a:prstGeom>
          <a:solidFill>
            <a:srgbClr val="E2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729983" y="2414016"/>
            <a:ext cx="466344" cy="457200"/>
          </a:xfrm>
          <a:prstGeom prst="roundRect">
            <a:avLst/>
          </a:prstGeom>
          <a:solidFill>
            <a:srgbClr val="E2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2990088"/>
            <a:ext cx="2011680" cy="265176"/>
          </a:xfrm>
          <a:prstGeom prst="rect">
            <a:avLst/>
          </a:prstGeom>
          <a:noFill/>
        </p:spPr>
        <p:txBody>
          <a:bodyPr wrap="square" lIns="36576" rIns="36576" tIns="36576" bIns="18288" anchor="t">
            <a:spAutoFit/>
          </a:bodyPr>
          <a:lstStyle/>
          <a:p>
            <a:pPr algn="l">
              <a:spcBef>
                <a:spcPts val="0"/>
              </a:spcBef>
              <a:spcAft>
                <a:spcPts val="0"/>
              </a:spcAft>
              <a:defRPr sz="1300" b="1" i="0">
                <a:solidFill>
                  <a:srgbClr val="D94410"/>
                </a:solidFill>
                <a:latin typeface="Arial"/>
              </a:defRPr>
            </a:pPr>
            <a:r>
              <a:t>4 booked</a:t>
            </a:r>
          </a:p>
        </p:txBody>
      </p:sp>
      <p:sp>
        <p:nvSpPr>
          <p:cNvPr id="23" name="TextBox 22"/>
          <p:cNvSpPr txBox="1"/>
          <p:nvPr/>
        </p:nvSpPr>
        <p:spPr>
          <a:xfrm>
            <a:off x="4663440" y="2990088"/>
            <a:ext cx="2468880" cy="265176"/>
          </a:xfrm>
          <a:prstGeom prst="rect">
            <a:avLst/>
          </a:prstGeom>
          <a:noFill/>
        </p:spPr>
        <p:txBody>
          <a:bodyPr wrap="square" lIns="36576" rIns="36576" tIns="36576" bIns="18288" anchor="t">
            <a:spAutoFit/>
          </a:bodyPr>
          <a:lstStyle/>
          <a:p>
            <a:pPr algn="l">
              <a:spcBef>
                <a:spcPts val="0"/>
              </a:spcBef>
              <a:spcAft>
                <a:spcPts val="0"/>
              </a:spcAft>
              <a:defRPr sz="1300" b="1" i="0">
                <a:solidFill>
                  <a:srgbClr val="5D646E"/>
                </a:solidFill>
                <a:latin typeface="Arial"/>
              </a:defRPr>
            </a:pPr>
            <a:r>
              <a:t>6 available</a:t>
            </a:r>
          </a:p>
        </p:txBody>
      </p:sp>
      <p:sp>
        <p:nvSpPr>
          <p:cNvPr id="24" name="Rounded Rectangle 23"/>
          <p:cNvSpPr/>
          <p:nvPr/>
        </p:nvSpPr>
        <p:spPr>
          <a:xfrm>
            <a:off x="740664" y="3520440"/>
            <a:ext cx="7589520" cy="1188720"/>
          </a:xfrm>
          <a:prstGeom prst="roundRect">
            <a:avLst/>
          </a:prstGeom>
          <a:solidFill>
            <a:srgbClr val="FEF5F0"/>
          </a:solidFill>
          <a:ln w="8890">
            <a:solidFill>
              <a:srgbClr val="F7CE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749039"/>
            <a:ext cx="2377440" cy="384048"/>
          </a:xfrm>
          <a:prstGeom prst="rect">
            <a:avLst/>
          </a:prstGeom>
          <a:noFill/>
        </p:spPr>
        <p:txBody>
          <a:bodyPr wrap="square" lIns="36576" rIns="36576" tIns="36576" bIns="18288" anchor="t">
            <a:spAutoFit/>
          </a:bodyPr>
          <a:lstStyle/>
          <a:p>
            <a:pPr algn="l">
              <a:spcBef>
                <a:spcPts val="0"/>
              </a:spcBef>
              <a:spcAft>
                <a:spcPts val="0"/>
              </a:spcAft>
              <a:defRPr sz="1900" b="1" i="0">
                <a:solidFill>
                  <a:srgbClr val="D94410"/>
                </a:solidFill>
                <a:latin typeface="Arial"/>
              </a:defRPr>
            </a:pPr>
            <a:r>
              <a:t>40% occupancy</a:t>
            </a:r>
          </a:p>
        </p:txBody>
      </p:sp>
      <p:sp>
        <p:nvSpPr>
          <p:cNvPr id="26" name="TextBox 25"/>
          <p:cNvSpPr txBox="1"/>
          <p:nvPr/>
        </p:nvSpPr>
        <p:spPr>
          <a:xfrm>
            <a:off x="3456432" y="3767328"/>
            <a:ext cx="4572000" cy="384048"/>
          </a:xfrm>
          <a:prstGeom prst="rect">
            <a:avLst/>
          </a:prstGeom>
          <a:noFill/>
        </p:spPr>
        <p:txBody>
          <a:bodyPr wrap="square" lIns="36576" rIns="36576" tIns="36576" bIns="18288" anchor="t">
            <a:spAutoFit/>
          </a:bodyPr>
          <a:lstStyle/>
          <a:p>
            <a:pPr algn="l">
              <a:spcBef>
                <a:spcPts val="0"/>
              </a:spcBef>
              <a:spcAft>
                <a:spcPts val="0"/>
              </a:spcAft>
              <a:defRPr sz="1900" b="1" i="0">
                <a:solidFill>
                  <a:srgbClr val="27313D"/>
                </a:solidFill>
                <a:latin typeface="Arial"/>
              </a:defRPr>
            </a:pPr>
            <a:r>
              <a:t>₹200 base  +  10%  =  ₹220 / ticket</a:t>
            </a:r>
          </a:p>
        </p:txBody>
      </p:sp>
      <p:sp>
        <p:nvSpPr>
          <p:cNvPr id="27" name="TextBox 26"/>
          <p:cNvSpPr txBox="1"/>
          <p:nvPr/>
        </p:nvSpPr>
        <p:spPr>
          <a:xfrm>
            <a:off x="658368" y="5212080"/>
            <a:ext cx="7918704" cy="438912"/>
          </a:xfrm>
          <a:prstGeom prst="rect">
            <a:avLst/>
          </a:prstGeom>
          <a:noFill/>
        </p:spPr>
        <p:txBody>
          <a:bodyPr wrap="square" lIns="36576" rIns="36576" tIns="36576" bIns="18288" anchor="t">
            <a:spAutoFit/>
          </a:bodyPr>
          <a:lstStyle/>
          <a:p>
            <a:pPr algn="ctr">
              <a:spcBef>
                <a:spcPts val="0"/>
              </a:spcBef>
              <a:spcAft>
                <a:spcPts val="0"/>
              </a:spcAft>
              <a:defRPr sz="1400" b="0" i="0">
                <a:solidFill>
                  <a:srgbClr val="5D646E"/>
                </a:solidFill>
                <a:latin typeface="Arial"/>
              </a:defRPr>
            </a:pPr>
            <a:r>
              <a:t>Rule bands: 0–30%: base  |  &gt;30–60%: +10%  |  &gt;60–80%: +20%  |  &gt;80%: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Movie Recommendation System</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12</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94360" y="1243584"/>
            <a:ext cx="2240280" cy="265176"/>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52728"/>
            <a:ext cx="2240280" cy="246887"/>
          </a:xfrm>
          <a:prstGeom prst="rect">
            <a:avLst/>
          </a:prstGeom>
          <a:noFill/>
        </p:spPr>
        <p:txBody>
          <a:bodyPr wrap="square" lIns="36576" rIns="36576" tIns="36576" bIns="18288" anchor="ctr">
            <a:spAutoFit/>
          </a:bodyPr>
          <a:lstStyle/>
          <a:p>
            <a:pPr algn="ctr">
              <a:spcBef>
                <a:spcPts val="0"/>
              </a:spcBef>
              <a:spcAft>
                <a:spcPts val="0"/>
              </a:spcAft>
              <a:defRPr sz="1000" b="1" i="0">
                <a:solidFill>
                  <a:srgbClr val="D94410"/>
                </a:solidFill>
                <a:latin typeface="Arial"/>
              </a:defRPr>
            </a:pPr>
            <a:r>
              <a:t>CONTENT-BASED RECOMMENDATION</a:t>
            </a:r>
          </a:p>
        </p:txBody>
      </p:sp>
      <p:sp>
        <p:nvSpPr>
          <p:cNvPr id="11" name="Rounded Rectangle 10"/>
          <p:cNvSpPr/>
          <p:nvPr/>
        </p:nvSpPr>
        <p:spPr>
          <a:xfrm>
            <a:off x="475488" y="1828800"/>
            <a:ext cx="1975104" cy="1837943"/>
          </a:xfrm>
          <a:prstGeom prst="roundRect">
            <a:avLst/>
          </a:prstGeom>
          <a:solidFill>
            <a:srgbClr val="FEF5F0"/>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1938528"/>
            <a:ext cx="1719072" cy="320040"/>
          </a:xfrm>
          <a:prstGeom prst="rect">
            <a:avLst/>
          </a:prstGeom>
          <a:noFill/>
        </p:spPr>
        <p:txBody>
          <a:bodyPr wrap="square" lIns="36576" rIns="36576" tIns="36576" bIns="18288" anchor="t">
            <a:spAutoFit/>
          </a:bodyPr>
          <a:lstStyle/>
          <a:p>
            <a:pPr algn="l">
              <a:spcBef>
                <a:spcPts val="0"/>
              </a:spcBef>
              <a:spcAft>
                <a:spcPts val="0"/>
              </a:spcAft>
              <a:defRPr sz="1500" b="1" i="0">
                <a:solidFill>
                  <a:srgbClr val="27313D"/>
                </a:solidFill>
                <a:latin typeface="Arial"/>
              </a:defRPr>
            </a:pPr>
            <a:r>
              <a:t>Movie features</a:t>
            </a:r>
          </a:p>
        </p:txBody>
      </p:sp>
      <p:sp>
        <p:nvSpPr>
          <p:cNvPr id="13" name="TextBox 12"/>
          <p:cNvSpPr txBox="1"/>
          <p:nvPr/>
        </p:nvSpPr>
        <p:spPr>
          <a:xfrm>
            <a:off x="603504" y="2304288"/>
            <a:ext cx="1719072" cy="1289303"/>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Genre, description, language</a:t>
            </a:r>
          </a:p>
        </p:txBody>
      </p:sp>
      <p:sp>
        <p:nvSpPr>
          <p:cNvPr id="14" name="TextBox 13"/>
          <p:cNvSpPr txBox="1"/>
          <p:nvPr/>
        </p:nvSpPr>
        <p:spPr>
          <a:xfrm>
            <a:off x="2459736" y="2560320"/>
            <a:ext cx="164592" cy="384048"/>
          </a:xfrm>
          <a:prstGeom prst="rect">
            <a:avLst/>
          </a:prstGeom>
          <a:noFill/>
        </p:spPr>
        <p:txBody>
          <a:bodyPr wrap="square" lIns="36576" rIns="36576" tIns="36576" bIns="18288" anchor="t">
            <a:spAutoFit/>
          </a:bodyPr>
          <a:lstStyle/>
          <a:p>
            <a:pPr algn="ctr">
              <a:spcBef>
                <a:spcPts val="0"/>
              </a:spcBef>
              <a:spcAft>
                <a:spcPts val="0"/>
              </a:spcAft>
              <a:defRPr sz="1800" b="1" i="0">
                <a:solidFill>
                  <a:srgbClr val="D94410"/>
                </a:solidFill>
                <a:latin typeface="Arial"/>
              </a:defRPr>
            </a:pPr>
            <a:r>
              <a:t>→</a:t>
            </a:r>
          </a:p>
        </p:txBody>
      </p:sp>
      <p:sp>
        <p:nvSpPr>
          <p:cNvPr id="15" name="Rounded Rectangle 14"/>
          <p:cNvSpPr/>
          <p:nvPr/>
        </p:nvSpPr>
        <p:spPr>
          <a:xfrm>
            <a:off x="2633472" y="1828800"/>
            <a:ext cx="1975104" cy="1837943"/>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1488" y="1938528"/>
            <a:ext cx="1719072" cy="320040"/>
          </a:xfrm>
          <a:prstGeom prst="rect">
            <a:avLst/>
          </a:prstGeom>
          <a:noFill/>
        </p:spPr>
        <p:txBody>
          <a:bodyPr wrap="square" lIns="36576" rIns="36576" tIns="36576" bIns="18288" anchor="t">
            <a:spAutoFit/>
          </a:bodyPr>
          <a:lstStyle/>
          <a:p>
            <a:pPr algn="l">
              <a:spcBef>
                <a:spcPts val="0"/>
              </a:spcBef>
              <a:spcAft>
                <a:spcPts val="0"/>
              </a:spcAft>
              <a:defRPr sz="1500" b="1" i="0">
                <a:solidFill>
                  <a:srgbClr val="27313D"/>
                </a:solidFill>
                <a:latin typeface="Arial"/>
              </a:defRPr>
            </a:pPr>
            <a:r>
              <a:t>TF-IDF vectors</a:t>
            </a:r>
          </a:p>
        </p:txBody>
      </p:sp>
      <p:sp>
        <p:nvSpPr>
          <p:cNvPr id="17" name="TextBox 16"/>
          <p:cNvSpPr txBox="1"/>
          <p:nvPr/>
        </p:nvSpPr>
        <p:spPr>
          <a:xfrm>
            <a:off x="2761488" y="2304288"/>
            <a:ext cx="1719072" cy="1289303"/>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Text converted into numbers</a:t>
            </a:r>
          </a:p>
        </p:txBody>
      </p:sp>
      <p:sp>
        <p:nvSpPr>
          <p:cNvPr id="18" name="TextBox 17"/>
          <p:cNvSpPr txBox="1"/>
          <p:nvPr/>
        </p:nvSpPr>
        <p:spPr>
          <a:xfrm>
            <a:off x="4617720" y="2560320"/>
            <a:ext cx="164592" cy="384048"/>
          </a:xfrm>
          <a:prstGeom prst="rect">
            <a:avLst/>
          </a:prstGeom>
          <a:noFill/>
        </p:spPr>
        <p:txBody>
          <a:bodyPr wrap="square" lIns="36576" rIns="36576" tIns="36576" bIns="18288" anchor="t">
            <a:spAutoFit/>
          </a:bodyPr>
          <a:lstStyle/>
          <a:p>
            <a:pPr algn="ctr">
              <a:spcBef>
                <a:spcPts val="0"/>
              </a:spcBef>
              <a:spcAft>
                <a:spcPts val="0"/>
              </a:spcAft>
              <a:defRPr sz="1800" b="1" i="0">
                <a:solidFill>
                  <a:srgbClr val="D94410"/>
                </a:solidFill>
                <a:latin typeface="Arial"/>
              </a:defRPr>
            </a:pPr>
            <a:r>
              <a:t>→</a:t>
            </a:r>
          </a:p>
        </p:txBody>
      </p:sp>
      <p:sp>
        <p:nvSpPr>
          <p:cNvPr id="19" name="Rounded Rectangle 18"/>
          <p:cNvSpPr/>
          <p:nvPr/>
        </p:nvSpPr>
        <p:spPr>
          <a:xfrm>
            <a:off x="4791456" y="1828800"/>
            <a:ext cx="1975104" cy="1837943"/>
          </a:xfrm>
          <a:prstGeom prst="roundRect">
            <a:avLst/>
          </a:prstGeom>
          <a:solidFill>
            <a:srgbClr val="FEF5F0"/>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19472" y="1938528"/>
            <a:ext cx="1719072" cy="320040"/>
          </a:xfrm>
          <a:prstGeom prst="rect">
            <a:avLst/>
          </a:prstGeom>
          <a:noFill/>
        </p:spPr>
        <p:txBody>
          <a:bodyPr wrap="square" lIns="36576" rIns="36576" tIns="36576" bIns="18288" anchor="t">
            <a:spAutoFit/>
          </a:bodyPr>
          <a:lstStyle/>
          <a:p>
            <a:pPr algn="l">
              <a:spcBef>
                <a:spcPts val="0"/>
              </a:spcBef>
              <a:spcAft>
                <a:spcPts val="0"/>
              </a:spcAft>
              <a:defRPr sz="1500" b="1" i="0">
                <a:solidFill>
                  <a:srgbClr val="27313D"/>
                </a:solidFill>
                <a:latin typeface="Arial"/>
              </a:defRPr>
            </a:pPr>
            <a:r>
              <a:t>Cosine similarity</a:t>
            </a:r>
          </a:p>
        </p:txBody>
      </p:sp>
      <p:sp>
        <p:nvSpPr>
          <p:cNvPr id="21" name="TextBox 20"/>
          <p:cNvSpPr txBox="1"/>
          <p:nvPr/>
        </p:nvSpPr>
        <p:spPr>
          <a:xfrm>
            <a:off x="4919472" y="2304288"/>
            <a:ext cx="1719072" cy="1289303"/>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Rank movies by resemblance</a:t>
            </a:r>
          </a:p>
        </p:txBody>
      </p:sp>
      <p:sp>
        <p:nvSpPr>
          <p:cNvPr id="22" name="TextBox 21"/>
          <p:cNvSpPr txBox="1"/>
          <p:nvPr/>
        </p:nvSpPr>
        <p:spPr>
          <a:xfrm>
            <a:off x="6775704" y="2560320"/>
            <a:ext cx="164592" cy="384048"/>
          </a:xfrm>
          <a:prstGeom prst="rect">
            <a:avLst/>
          </a:prstGeom>
          <a:noFill/>
        </p:spPr>
        <p:txBody>
          <a:bodyPr wrap="square" lIns="36576" rIns="36576" tIns="36576" bIns="18288" anchor="t">
            <a:spAutoFit/>
          </a:bodyPr>
          <a:lstStyle/>
          <a:p>
            <a:pPr algn="ctr">
              <a:spcBef>
                <a:spcPts val="0"/>
              </a:spcBef>
              <a:spcAft>
                <a:spcPts val="0"/>
              </a:spcAft>
              <a:defRPr sz="1800" b="1" i="0">
                <a:solidFill>
                  <a:srgbClr val="D94410"/>
                </a:solidFill>
                <a:latin typeface="Arial"/>
              </a:defRPr>
            </a:pPr>
            <a:r>
              <a:t>→</a:t>
            </a:r>
          </a:p>
        </p:txBody>
      </p:sp>
      <p:sp>
        <p:nvSpPr>
          <p:cNvPr id="23" name="Rounded Rectangle 22"/>
          <p:cNvSpPr/>
          <p:nvPr/>
        </p:nvSpPr>
        <p:spPr>
          <a:xfrm>
            <a:off x="6949440" y="1828800"/>
            <a:ext cx="1975104" cy="1837943"/>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77455" y="1938528"/>
            <a:ext cx="1719072" cy="320040"/>
          </a:xfrm>
          <a:prstGeom prst="rect">
            <a:avLst/>
          </a:prstGeom>
          <a:noFill/>
        </p:spPr>
        <p:txBody>
          <a:bodyPr wrap="square" lIns="36576" rIns="36576" tIns="36576" bIns="18288" anchor="t">
            <a:spAutoFit/>
          </a:bodyPr>
          <a:lstStyle/>
          <a:p>
            <a:pPr algn="l">
              <a:spcBef>
                <a:spcPts val="0"/>
              </a:spcBef>
              <a:spcAft>
                <a:spcPts val="0"/>
              </a:spcAft>
              <a:defRPr sz="1500" b="1" i="0">
                <a:solidFill>
                  <a:srgbClr val="27313D"/>
                </a:solidFill>
                <a:latin typeface="Arial"/>
              </a:defRPr>
            </a:pPr>
            <a:r>
              <a:t>Top suggestions</a:t>
            </a:r>
          </a:p>
        </p:txBody>
      </p:sp>
      <p:sp>
        <p:nvSpPr>
          <p:cNvPr id="25" name="TextBox 24"/>
          <p:cNvSpPr txBox="1"/>
          <p:nvPr/>
        </p:nvSpPr>
        <p:spPr>
          <a:xfrm>
            <a:off x="7077455" y="2304288"/>
            <a:ext cx="1719072" cy="1289303"/>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Relevant movies for the user</a:t>
            </a:r>
          </a:p>
        </p:txBody>
      </p:sp>
      <p:sp>
        <p:nvSpPr>
          <p:cNvPr id="26" name="Rounded Rectangle 25"/>
          <p:cNvSpPr/>
          <p:nvPr/>
        </p:nvSpPr>
        <p:spPr>
          <a:xfrm>
            <a:off x="685800" y="4197096"/>
            <a:ext cx="7735824" cy="978408"/>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443984"/>
            <a:ext cx="7278624" cy="457200"/>
          </a:xfrm>
          <a:prstGeom prst="rect">
            <a:avLst/>
          </a:prstGeom>
          <a:noFill/>
        </p:spPr>
        <p:txBody>
          <a:bodyPr wrap="square" lIns="36576" rIns="36576" tIns="36576" bIns="18288" anchor="t">
            <a:spAutoFit/>
          </a:bodyPr>
          <a:lstStyle/>
          <a:p>
            <a:pPr algn="ctr">
              <a:spcBef>
                <a:spcPts val="0"/>
              </a:spcBef>
              <a:spcAft>
                <a:spcPts val="0"/>
              </a:spcAft>
              <a:defRPr sz="1600" b="1" i="0">
                <a:solidFill>
                  <a:srgbClr val="27313D"/>
                </a:solidFill>
                <a:latin typeface="Arial"/>
              </a:defRPr>
            </a:pPr>
            <a:r>
              <a:t>Personalization adds user booking history and ratings to the recommendation scores.</a:t>
            </a:r>
          </a:p>
        </p:txBody>
      </p:sp>
      <p:sp>
        <p:nvSpPr>
          <p:cNvPr id="28" name="TextBox 27"/>
          <p:cNvSpPr txBox="1"/>
          <p:nvPr/>
        </p:nvSpPr>
        <p:spPr>
          <a:xfrm>
            <a:off x="1188720" y="5404104"/>
            <a:ext cx="6766560" cy="274320"/>
          </a:xfrm>
          <a:prstGeom prst="rect">
            <a:avLst/>
          </a:prstGeom>
          <a:noFill/>
        </p:spPr>
        <p:txBody>
          <a:bodyPr wrap="square" lIns="36576" rIns="36576" tIns="36576" bIns="18288" anchor="t">
            <a:spAutoFit/>
          </a:bodyPr>
          <a:lstStyle/>
          <a:p>
            <a:pPr algn="ctr">
              <a:spcBef>
                <a:spcPts val="0"/>
              </a:spcBef>
              <a:spcAft>
                <a:spcPts val="0"/>
              </a:spcAft>
              <a:defRPr sz="1300" b="0" i="0">
                <a:solidFill>
                  <a:srgbClr val="5D646E"/>
                </a:solidFill>
                <a:latin typeface="Arial"/>
              </a:defRPr>
            </a:pPr>
            <a:r>
              <a:t>Python libraries: Pandas + scikit-learn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Frontend &amp; Admin Dashboard</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13</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58368" y="1490472"/>
            <a:ext cx="3794760" cy="3547872"/>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600200"/>
            <a:ext cx="3538728" cy="320040"/>
          </a:xfrm>
          <a:prstGeom prst="rect">
            <a:avLst/>
          </a:prstGeom>
          <a:noFill/>
        </p:spPr>
        <p:txBody>
          <a:bodyPr wrap="square" lIns="36576" rIns="36576" tIns="36576" bIns="18288" anchor="t">
            <a:spAutoFit/>
          </a:bodyPr>
          <a:lstStyle/>
          <a:p>
            <a:pPr algn="l">
              <a:spcBef>
                <a:spcPts val="0"/>
              </a:spcBef>
              <a:spcAft>
                <a:spcPts val="0"/>
              </a:spcAft>
              <a:defRPr sz="1800" b="1" i="0">
                <a:solidFill>
                  <a:srgbClr val="27313D"/>
                </a:solidFill>
                <a:latin typeface="Arial"/>
              </a:defRPr>
            </a:pPr>
            <a:r>
              <a:t>Customer Interface</a:t>
            </a:r>
          </a:p>
        </p:txBody>
      </p:sp>
      <p:sp>
        <p:nvSpPr>
          <p:cNvPr id="11" name="Rounded Rectangle 10"/>
          <p:cNvSpPr/>
          <p:nvPr/>
        </p:nvSpPr>
        <p:spPr>
          <a:xfrm>
            <a:off x="4690872" y="1490472"/>
            <a:ext cx="3794760" cy="3547872"/>
          </a:xfrm>
          <a:prstGeom prst="roundRect">
            <a:avLst/>
          </a:prstGeom>
          <a:solidFill>
            <a:srgbClr val="FEF5F0"/>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8888" y="1600200"/>
            <a:ext cx="3538728" cy="320040"/>
          </a:xfrm>
          <a:prstGeom prst="rect">
            <a:avLst/>
          </a:prstGeom>
          <a:noFill/>
        </p:spPr>
        <p:txBody>
          <a:bodyPr wrap="square" lIns="36576" rIns="36576" tIns="36576" bIns="18288" anchor="t">
            <a:spAutoFit/>
          </a:bodyPr>
          <a:lstStyle/>
          <a:p>
            <a:pPr algn="l">
              <a:spcBef>
                <a:spcPts val="0"/>
              </a:spcBef>
              <a:spcAft>
                <a:spcPts val="0"/>
              </a:spcAft>
              <a:defRPr sz="1800" b="1" i="0">
                <a:solidFill>
                  <a:srgbClr val="27313D"/>
                </a:solidFill>
                <a:latin typeface="Arial"/>
              </a:defRPr>
            </a:pPr>
            <a:r>
              <a:t>Admin Interface</a:t>
            </a:r>
          </a:p>
        </p:txBody>
      </p:sp>
      <p:sp>
        <p:nvSpPr>
          <p:cNvPr id="13" name="Oval 12"/>
          <p:cNvSpPr/>
          <p:nvPr/>
        </p:nvSpPr>
        <p:spPr>
          <a:xfrm>
            <a:off x="905256" y="2368296"/>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8136" y="2221992"/>
            <a:ext cx="3118103" cy="54864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Movie browsing and search</a:t>
            </a:r>
          </a:p>
        </p:txBody>
      </p:sp>
      <p:sp>
        <p:nvSpPr>
          <p:cNvPr id="15" name="Oval 14"/>
          <p:cNvSpPr/>
          <p:nvPr/>
        </p:nvSpPr>
        <p:spPr>
          <a:xfrm>
            <a:off x="905256" y="2953512"/>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88136" y="2807208"/>
            <a:ext cx="3118103" cy="54864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Showtime and seat selection</a:t>
            </a:r>
          </a:p>
        </p:txBody>
      </p:sp>
      <p:sp>
        <p:nvSpPr>
          <p:cNvPr id="17" name="Oval 16"/>
          <p:cNvSpPr/>
          <p:nvPr/>
        </p:nvSpPr>
        <p:spPr>
          <a:xfrm>
            <a:off x="905256" y="3538728"/>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8136" y="3392424"/>
            <a:ext cx="3118103" cy="54864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Booking, payment and cancellation</a:t>
            </a:r>
          </a:p>
        </p:txBody>
      </p:sp>
      <p:sp>
        <p:nvSpPr>
          <p:cNvPr id="19" name="Oval 18"/>
          <p:cNvSpPr/>
          <p:nvPr/>
        </p:nvSpPr>
        <p:spPr>
          <a:xfrm>
            <a:off x="905256" y="4123944"/>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 y="3977639"/>
            <a:ext cx="3118103" cy="54864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Reviews and recommendations</a:t>
            </a:r>
          </a:p>
        </p:txBody>
      </p:sp>
      <p:sp>
        <p:nvSpPr>
          <p:cNvPr id="21" name="Oval 20"/>
          <p:cNvSpPr/>
          <p:nvPr/>
        </p:nvSpPr>
        <p:spPr>
          <a:xfrm>
            <a:off x="4937760" y="2368296"/>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2221992"/>
            <a:ext cx="3108960" cy="54864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Movie and theatre CRUD</a:t>
            </a:r>
          </a:p>
        </p:txBody>
      </p:sp>
      <p:sp>
        <p:nvSpPr>
          <p:cNvPr id="23" name="Oval 22"/>
          <p:cNvSpPr/>
          <p:nvPr/>
        </p:nvSpPr>
        <p:spPr>
          <a:xfrm>
            <a:off x="4937760" y="2953512"/>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807208"/>
            <a:ext cx="3108960" cy="54864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Screen and show scheduling</a:t>
            </a:r>
          </a:p>
        </p:txBody>
      </p:sp>
      <p:sp>
        <p:nvSpPr>
          <p:cNvPr id="25" name="Oval 24"/>
          <p:cNvSpPr/>
          <p:nvPr/>
        </p:nvSpPr>
        <p:spPr>
          <a:xfrm>
            <a:off x="4937760" y="3538728"/>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20640" y="3392424"/>
            <a:ext cx="3108960" cy="54864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Customer booking records</a:t>
            </a:r>
          </a:p>
        </p:txBody>
      </p:sp>
      <p:sp>
        <p:nvSpPr>
          <p:cNvPr id="27" name="Oval 26"/>
          <p:cNvSpPr/>
          <p:nvPr/>
        </p:nvSpPr>
        <p:spPr>
          <a:xfrm>
            <a:off x="4937760" y="4123944"/>
            <a:ext cx="68580" cy="68580"/>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3977639"/>
            <a:ext cx="3108960" cy="548640"/>
          </a:xfrm>
          <a:prstGeom prst="rect">
            <a:avLst/>
          </a:prstGeom>
          <a:noFill/>
        </p:spPr>
        <p:txBody>
          <a:bodyPr wrap="square" lIns="36576" rIns="36576" tIns="36576" bIns="18288" anchor="t">
            <a:spAutoFit/>
          </a:bodyPr>
          <a:lstStyle/>
          <a:p>
            <a:pPr algn="l">
              <a:spcBef>
                <a:spcPts val="0"/>
              </a:spcBef>
              <a:spcAft>
                <a:spcPts val="0"/>
              </a:spcAft>
              <a:defRPr sz="1500" b="0" i="0">
                <a:solidFill>
                  <a:srgbClr val="27313D"/>
                </a:solidFill>
                <a:latin typeface="Arial"/>
              </a:defRPr>
            </a:pPr>
            <a:r>
              <a:t>Chart.js analytics and reports</a:t>
            </a:r>
          </a:p>
        </p:txBody>
      </p:sp>
      <p:sp>
        <p:nvSpPr>
          <p:cNvPr id="29" name="TextBox 28"/>
          <p:cNvSpPr txBox="1"/>
          <p:nvPr/>
        </p:nvSpPr>
        <p:spPr>
          <a:xfrm>
            <a:off x="667512" y="5367528"/>
            <a:ext cx="7772400" cy="365760"/>
          </a:xfrm>
          <a:prstGeom prst="rect">
            <a:avLst/>
          </a:prstGeom>
          <a:noFill/>
        </p:spPr>
        <p:txBody>
          <a:bodyPr wrap="square" lIns="36576" rIns="36576" tIns="36576" bIns="18288" anchor="t">
            <a:spAutoFit/>
          </a:bodyPr>
          <a:lstStyle/>
          <a:p>
            <a:pPr algn="ctr">
              <a:spcBef>
                <a:spcPts val="0"/>
              </a:spcBef>
              <a:spcAft>
                <a:spcPts val="0"/>
              </a:spcAft>
              <a:defRPr sz="1400" b="1" i="0">
                <a:solidFill>
                  <a:srgbClr val="D94410"/>
                </a:solidFill>
                <a:latin typeface="Arial"/>
              </a:defRPr>
            </a:pPr>
            <a:r>
              <a:t>Figma prototype  →  HTML / CSS / Bootstrap / JavaScript  →  Flask routes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Testing &amp; Results</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14</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76072" y="1362456"/>
            <a:ext cx="3968496" cy="3291840"/>
          </a:xfrm>
          <a:prstGeom prst="roundRect">
            <a:avLst/>
          </a:prstGeom>
          <a:solidFill>
            <a:srgbClr val="FFFFFF"/>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17720" y="1362456"/>
            <a:ext cx="3968496" cy="3291840"/>
          </a:xfrm>
          <a:prstGeom prst="roundRect">
            <a:avLst/>
          </a:prstGeom>
          <a:solidFill>
            <a:srgbClr val="FFFFFF"/>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45336"/>
            <a:ext cx="3611880" cy="356616"/>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Postman — Registration POST</a:t>
            </a:r>
          </a:p>
        </p:txBody>
      </p:sp>
      <p:pic>
        <p:nvPicPr>
          <p:cNvPr id="12" name="Picture 11" descr="image(20261011-192401).png"/>
          <p:cNvPicPr>
            <a:picLocks noChangeAspect="1"/>
          </p:cNvPicPr>
          <p:nvPr/>
        </p:nvPicPr>
        <p:blipFill>
          <a:blip r:embed="rId3"/>
          <a:stretch>
            <a:fillRect/>
          </a:stretch>
        </p:blipFill>
        <p:spPr>
          <a:xfrm>
            <a:off x="1442794" y="1947672"/>
            <a:ext cx="2244195" cy="2404872"/>
          </a:xfrm>
          <a:prstGeom prst="rect">
            <a:avLst/>
          </a:prstGeom>
        </p:spPr>
      </p:pic>
      <p:sp>
        <p:nvSpPr>
          <p:cNvPr id="13" name="TextBox 12"/>
          <p:cNvSpPr txBox="1"/>
          <p:nvPr/>
        </p:nvSpPr>
        <p:spPr>
          <a:xfrm>
            <a:off x="4800600" y="1545336"/>
            <a:ext cx="3584448" cy="356616"/>
          </a:xfrm>
          <a:prstGeom prst="rect">
            <a:avLst/>
          </a:prstGeom>
          <a:noFill/>
        </p:spPr>
        <p:txBody>
          <a:bodyPr wrap="square" lIns="36576" rIns="36576" tIns="36576" bIns="18288" anchor="t">
            <a:spAutoFit/>
          </a:bodyPr>
          <a:lstStyle/>
          <a:p>
            <a:pPr algn="l">
              <a:spcBef>
                <a:spcPts val="0"/>
              </a:spcBef>
              <a:spcAft>
                <a:spcPts val="0"/>
              </a:spcAft>
              <a:defRPr sz="1700" b="1" i="0">
                <a:solidFill>
                  <a:srgbClr val="27313D"/>
                </a:solidFill>
                <a:latin typeface="Arial"/>
              </a:defRPr>
            </a:pPr>
            <a:r>
              <a:t>SQL — Dynamic Price Check</a:t>
            </a:r>
          </a:p>
        </p:txBody>
      </p:sp>
      <p:pic>
        <p:nvPicPr>
          <p:cNvPr id="14" name="Picture 13" descr="image(20261011-161558).png"/>
          <p:cNvPicPr>
            <a:picLocks noChangeAspect="1"/>
          </p:cNvPicPr>
          <p:nvPr/>
        </p:nvPicPr>
        <p:blipFill>
          <a:blip r:embed="rId4"/>
          <a:stretch>
            <a:fillRect/>
          </a:stretch>
        </p:blipFill>
        <p:spPr>
          <a:xfrm>
            <a:off x="4773168" y="2665640"/>
            <a:ext cx="3639312" cy="566599"/>
          </a:xfrm>
          <a:prstGeom prst="rect">
            <a:avLst/>
          </a:prstGeom>
        </p:spPr>
      </p:pic>
      <p:sp>
        <p:nvSpPr>
          <p:cNvPr id="15" name="TextBox 14"/>
          <p:cNvSpPr txBox="1"/>
          <p:nvPr/>
        </p:nvSpPr>
        <p:spPr>
          <a:xfrm>
            <a:off x="914400" y="4343400"/>
            <a:ext cx="3291840" cy="274320"/>
          </a:xfrm>
          <a:prstGeom prst="rect">
            <a:avLst/>
          </a:prstGeom>
          <a:noFill/>
        </p:spPr>
        <p:txBody>
          <a:bodyPr wrap="square" lIns="36576" rIns="36576" tIns="36576" bIns="18288" anchor="t">
            <a:spAutoFit/>
          </a:bodyPr>
          <a:lstStyle/>
          <a:p>
            <a:pPr algn="ctr">
              <a:spcBef>
                <a:spcPts val="0"/>
              </a:spcBef>
              <a:spcAft>
                <a:spcPts val="0"/>
              </a:spcAft>
              <a:defRPr sz="1300" b="1" i="0">
                <a:solidFill>
                  <a:srgbClr val="266F57"/>
                </a:solidFill>
                <a:latin typeface="Arial"/>
              </a:defRPr>
            </a:pPr>
            <a:r>
              <a:t>1/1 test passed</a:t>
            </a:r>
          </a:p>
        </p:txBody>
      </p:sp>
      <p:sp>
        <p:nvSpPr>
          <p:cNvPr id="16" name="TextBox 15"/>
          <p:cNvSpPr txBox="1"/>
          <p:nvPr/>
        </p:nvSpPr>
        <p:spPr>
          <a:xfrm>
            <a:off x="4882896" y="4160520"/>
            <a:ext cx="3410712" cy="466344"/>
          </a:xfrm>
          <a:prstGeom prst="rect">
            <a:avLst/>
          </a:prstGeom>
          <a:noFill/>
        </p:spPr>
        <p:txBody>
          <a:bodyPr wrap="square" lIns="36576" rIns="36576" tIns="36576" bIns="18288" anchor="t">
            <a:spAutoFit/>
          </a:bodyPr>
          <a:lstStyle/>
          <a:p>
            <a:pPr algn="ctr">
              <a:spcBef>
                <a:spcPts val="0"/>
              </a:spcBef>
              <a:spcAft>
                <a:spcPts val="0"/>
              </a:spcAft>
              <a:defRPr sz="1300" b="1" i="0">
                <a:solidFill>
                  <a:srgbClr val="266F57"/>
                </a:solidFill>
                <a:latin typeface="Arial"/>
              </a:defRPr>
            </a:pPr>
            <a:r>
              <a:t>10 actual seats, 4 booked → ₹220</a:t>
            </a:r>
          </a:p>
        </p:txBody>
      </p:sp>
      <p:sp>
        <p:nvSpPr>
          <p:cNvPr id="17" name="Rounded Rectangle 16"/>
          <p:cNvSpPr/>
          <p:nvPr/>
        </p:nvSpPr>
        <p:spPr>
          <a:xfrm>
            <a:off x="667512" y="4965192"/>
            <a:ext cx="7818120" cy="832104"/>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5074920"/>
            <a:ext cx="7562088" cy="320040"/>
          </a:xfrm>
          <a:prstGeom prst="rect">
            <a:avLst/>
          </a:prstGeom>
          <a:noFill/>
        </p:spPr>
        <p:txBody>
          <a:bodyPr wrap="square" lIns="36576" rIns="36576" tIns="36576" bIns="18288" anchor="t">
            <a:spAutoFit/>
          </a:bodyPr>
          <a:lstStyle/>
          <a:p>
            <a:pPr algn="l">
              <a:spcBef>
                <a:spcPts val="0"/>
              </a:spcBef>
              <a:spcAft>
                <a:spcPts val="0"/>
              </a:spcAft>
              <a:defRPr sz="1400" b="1" i="0">
                <a:solidFill>
                  <a:srgbClr val="27313D"/>
                </a:solidFill>
                <a:latin typeface="Arial"/>
              </a:defRPr>
            </a:pPr>
            <a:r>
              <a:t>Additional manual checks</a:t>
            </a:r>
          </a:p>
        </p:txBody>
      </p:sp>
      <p:sp>
        <p:nvSpPr>
          <p:cNvPr id="19" name="TextBox 18"/>
          <p:cNvSpPr txBox="1"/>
          <p:nvPr/>
        </p:nvSpPr>
        <p:spPr>
          <a:xfrm>
            <a:off x="795528" y="5440679"/>
            <a:ext cx="7562088" cy="283464"/>
          </a:xfrm>
          <a:prstGeom prst="rect">
            <a:avLst/>
          </a:prstGeom>
          <a:noFill/>
        </p:spPr>
        <p:txBody>
          <a:bodyPr wrap="square" lIns="36576" rIns="36576" tIns="36576" bIns="18288" anchor="t">
            <a:spAutoFit/>
          </a:bodyPr>
          <a:lstStyle/>
          <a:p>
            <a:pPr algn="l">
              <a:spcBef>
                <a:spcPts val="0"/>
              </a:spcBef>
              <a:spcAft>
                <a:spcPts val="0"/>
              </a:spcAft>
              <a:defRPr sz="1200" b="0" i="0">
                <a:solidFill>
                  <a:srgbClr val="5D646E"/>
                </a:solidFill>
                <a:latin typeface="Arial"/>
              </a:defRPr>
            </a:pPr>
            <a:r>
              <a:t>Login • seat reservation • mock payment • cancellation • admin operations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Applications, Limitations &amp; Future Scope</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15</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502920" y="1627632"/>
            <a:ext cx="2606040" cy="3493008"/>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737360"/>
            <a:ext cx="2350008" cy="320040"/>
          </a:xfrm>
          <a:prstGeom prst="rect">
            <a:avLst/>
          </a:prstGeom>
          <a:noFill/>
        </p:spPr>
        <p:txBody>
          <a:bodyPr wrap="square" lIns="36576" rIns="36576" tIns="36576" bIns="18288" anchor="t">
            <a:spAutoFit/>
          </a:bodyPr>
          <a:lstStyle/>
          <a:p>
            <a:pPr algn="l">
              <a:spcBef>
                <a:spcPts val="0"/>
              </a:spcBef>
              <a:spcAft>
                <a:spcPts val="0"/>
              </a:spcAft>
              <a:defRPr sz="1800" b="1" i="0">
                <a:solidFill>
                  <a:srgbClr val="27313D"/>
                </a:solidFill>
                <a:latin typeface="Arial"/>
              </a:defRPr>
            </a:pPr>
            <a:r>
              <a:t>Applications</a:t>
            </a:r>
          </a:p>
        </p:txBody>
      </p:sp>
      <p:sp>
        <p:nvSpPr>
          <p:cNvPr id="11" name="TextBox 10"/>
          <p:cNvSpPr txBox="1"/>
          <p:nvPr/>
        </p:nvSpPr>
        <p:spPr>
          <a:xfrm>
            <a:off x="630936" y="2103120"/>
            <a:ext cx="2350008" cy="2944368"/>
          </a:xfrm>
          <a:prstGeom prst="rect">
            <a:avLst/>
          </a:prstGeom>
          <a:noFill/>
        </p:spPr>
        <p:txBody>
          <a:bodyPr wrap="square" lIns="36576" rIns="36576" tIns="36576" bIns="18288" anchor="t">
            <a:spAutoFit/>
          </a:bodyPr>
          <a:lstStyle/>
          <a:p>
            <a:pPr algn="l">
              <a:spcBef>
                <a:spcPts val="0"/>
              </a:spcBef>
              <a:spcAft>
                <a:spcPts val="0"/>
              </a:spcAft>
              <a:defRPr sz="1500" b="0" i="0">
                <a:solidFill>
                  <a:srgbClr val="5D646E"/>
                </a:solidFill>
                <a:latin typeface="Arial"/>
              </a:defRPr>
            </a:pPr>
            <a:r>
              <a:t>Small cinemas, campus screenings and seat-based reservation systems.</a:t>
            </a:r>
          </a:p>
        </p:txBody>
      </p:sp>
      <p:sp>
        <p:nvSpPr>
          <p:cNvPr id="12" name="Rounded Rectangle 11"/>
          <p:cNvSpPr/>
          <p:nvPr/>
        </p:nvSpPr>
        <p:spPr>
          <a:xfrm>
            <a:off x="3364991" y="1627632"/>
            <a:ext cx="2606040" cy="3493008"/>
          </a:xfrm>
          <a:prstGeom prst="roundRect">
            <a:avLst/>
          </a:prstGeom>
          <a:solidFill>
            <a:srgbClr val="FEF5F0"/>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3008" y="1737360"/>
            <a:ext cx="2350008" cy="320040"/>
          </a:xfrm>
          <a:prstGeom prst="rect">
            <a:avLst/>
          </a:prstGeom>
          <a:noFill/>
        </p:spPr>
        <p:txBody>
          <a:bodyPr wrap="square" lIns="36576" rIns="36576" tIns="36576" bIns="18288" anchor="t">
            <a:spAutoFit/>
          </a:bodyPr>
          <a:lstStyle/>
          <a:p>
            <a:pPr algn="l">
              <a:spcBef>
                <a:spcPts val="0"/>
              </a:spcBef>
              <a:spcAft>
                <a:spcPts val="0"/>
              </a:spcAft>
              <a:defRPr sz="1800" b="1" i="0">
                <a:solidFill>
                  <a:srgbClr val="27313D"/>
                </a:solidFill>
                <a:latin typeface="Arial"/>
              </a:defRPr>
            </a:pPr>
            <a:r>
              <a:t>Current limitations</a:t>
            </a:r>
          </a:p>
        </p:txBody>
      </p:sp>
      <p:sp>
        <p:nvSpPr>
          <p:cNvPr id="14" name="TextBox 13"/>
          <p:cNvSpPr txBox="1"/>
          <p:nvPr/>
        </p:nvSpPr>
        <p:spPr>
          <a:xfrm>
            <a:off x="3493008" y="2103120"/>
            <a:ext cx="2350008" cy="2944368"/>
          </a:xfrm>
          <a:prstGeom prst="rect">
            <a:avLst/>
          </a:prstGeom>
          <a:noFill/>
        </p:spPr>
        <p:txBody>
          <a:bodyPr wrap="square" lIns="36576" rIns="36576" tIns="36576" bIns="18288" anchor="t">
            <a:spAutoFit/>
          </a:bodyPr>
          <a:lstStyle/>
          <a:p>
            <a:pPr algn="l">
              <a:spcBef>
                <a:spcPts val="0"/>
              </a:spcBef>
              <a:spcAft>
                <a:spcPts val="0"/>
              </a:spcAft>
              <a:defRPr sz="1500" b="0" i="0">
                <a:solidFill>
                  <a:srgbClr val="5D646E"/>
                </a:solidFill>
                <a:latin typeface="Arial"/>
              </a:defRPr>
            </a:pPr>
            <a:r>
              <a:t>Simulated payments and refunds; limited movie data; no automatic expiry of unpaid seat holds.</a:t>
            </a:r>
          </a:p>
        </p:txBody>
      </p:sp>
      <p:sp>
        <p:nvSpPr>
          <p:cNvPr id="15" name="Rounded Rectangle 14"/>
          <p:cNvSpPr/>
          <p:nvPr/>
        </p:nvSpPr>
        <p:spPr>
          <a:xfrm>
            <a:off x="6227064" y="1627632"/>
            <a:ext cx="2606040" cy="3493008"/>
          </a:xfrm>
          <a:prstGeom prst="roundRect">
            <a:avLst/>
          </a:prstGeom>
          <a:solidFill>
            <a:srgbClr val="F6F7F8"/>
          </a:solidFill>
          <a:ln w="9525">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1737360"/>
            <a:ext cx="2350008" cy="320040"/>
          </a:xfrm>
          <a:prstGeom prst="rect">
            <a:avLst/>
          </a:prstGeom>
          <a:noFill/>
        </p:spPr>
        <p:txBody>
          <a:bodyPr wrap="square" lIns="36576" rIns="36576" tIns="36576" bIns="18288" anchor="t">
            <a:spAutoFit/>
          </a:bodyPr>
          <a:lstStyle/>
          <a:p>
            <a:pPr algn="l">
              <a:spcBef>
                <a:spcPts val="0"/>
              </a:spcBef>
              <a:spcAft>
                <a:spcPts val="0"/>
              </a:spcAft>
              <a:defRPr sz="1800" b="1" i="0">
                <a:solidFill>
                  <a:srgbClr val="27313D"/>
                </a:solidFill>
                <a:latin typeface="Arial"/>
              </a:defRPr>
            </a:pPr>
            <a:r>
              <a:t>Future scope</a:t>
            </a:r>
          </a:p>
        </p:txBody>
      </p:sp>
      <p:sp>
        <p:nvSpPr>
          <p:cNvPr id="17" name="TextBox 16"/>
          <p:cNvSpPr txBox="1"/>
          <p:nvPr/>
        </p:nvSpPr>
        <p:spPr>
          <a:xfrm>
            <a:off x="6355079" y="2103120"/>
            <a:ext cx="2350008" cy="2944368"/>
          </a:xfrm>
          <a:prstGeom prst="rect">
            <a:avLst/>
          </a:prstGeom>
          <a:noFill/>
        </p:spPr>
        <p:txBody>
          <a:bodyPr wrap="square" lIns="36576" rIns="36576" tIns="36576" bIns="18288" anchor="t">
            <a:spAutoFit/>
          </a:bodyPr>
          <a:lstStyle/>
          <a:p>
            <a:pPr algn="l">
              <a:spcBef>
                <a:spcPts val="0"/>
              </a:spcBef>
              <a:spcAft>
                <a:spcPts val="0"/>
              </a:spcAft>
              <a:defRPr sz="1500" b="0" i="0">
                <a:solidFill>
                  <a:srgbClr val="5D646E"/>
                </a:solidFill>
                <a:latin typeface="Arial"/>
              </a:defRPr>
            </a:pPr>
            <a:r>
              <a:t>Real payment gateway, reservation timeout, richer recommendation data and online deployment.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527048" y="384048"/>
            <a:ext cx="7132320" cy="512064"/>
          </a:xfrm>
          <a:prstGeom prst="rect">
            <a:avLst/>
          </a:prstGeom>
          <a:noFill/>
        </p:spPr>
        <p:txBody>
          <a:bodyPr wrap="square" lIns="36576" rIns="36576" tIns="36576" bIns="18288" anchor="t">
            <a:spAutoFit/>
          </a:bodyPr>
          <a:lstStyle/>
          <a:p>
            <a:pPr algn="l">
              <a:spcBef>
                <a:spcPts val="0"/>
              </a:spcBef>
              <a:spcAft>
                <a:spcPts val="0"/>
              </a:spcAft>
              <a:defRPr sz="2500" b="0" i="0">
                <a:solidFill>
                  <a:srgbClr val="5E5E60"/>
                </a:solidFill>
                <a:latin typeface="Arial"/>
              </a:defRPr>
            </a:pPr>
            <a:r>
              <a:t>Conclusion &amp; References</a:t>
            </a:r>
          </a:p>
        </p:txBody>
      </p:sp>
      <p:cxnSp>
        <p:nvCxnSpPr>
          <p:cNvPr id="4" name="Connector 3"/>
          <p:cNvCxnSpPr/>
          <p:nvPr/>
        </p:nvCxnSpPr>
        <p:spPr>
          <a:xfrm>
            <a:off x="1527048" y="1042415"/>
            <a:ext cx="7141464"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65760"/>
          </a:xfrm>
          <a:prstGeom prst="rect">
            <a:avLst/>
          </a:prstGeom>
          <a:noFill/>
        </p:spPr>
        <p:txBody>
          <a:bodyPr wrap="square" lIns="36576" rIns="36576" tIns="36576" bIns="18288" anchor="ctr">
            <a:spAutoFit/>
          </a:bodyPr>
          <a:lstStyle/>
          <a:p>
            <a:pPr algn="ctr">
              <a:spcBef>
                <a:spcPts val="0"/>
              </a:spcBef>
              <a:spcAft>
                <a:spcPts val="0"/>
              </a:spcAft>
              <a:defRPr sz="1300" b="1" i="0">
                <a:solidFill>
                  <a:srgbClr val="FFFFFF"/>
                </a:solidFill>
                <a:latin typeface="Arial"/>
              </a:defRPr>
            </a:pPr>
            <a:r>
              <a:t>16</a:t>
            </a:r>
          </a:p>
        </p:txBody>
      </p:sp>
      <p:sp>
        <p:nvSpPr>
          <p:cNvPr id="7" name="TextBox 6"/>
          <p:cNvSpPr txBox="1"/>
          <p:nvPr/>
        </p:nvSpPr>
        <p:spPr>
          <a:xfrm>
            <a:off x="941832" y="6336792"/>
            <a:ext cx="52120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Department of Electrical and Electronics Engineering</a:t>
            </a:r>
          </a:p>
        </p:txBody>
      </p:sp>
      <p:sp>
        <p:nvSpPr>
          <p:cNvPr id="8" name="TextBox 7"/>
          <p:cNvSpPr txBox="1"/>
          <p:nvPr/>
        </p:nvSpPr>
        <p:spPr>
          <a:xfrm>
            <a:off x="7726679" y="6336792"/>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325880"/>
            <a:ext cx="7854696" cy="1106424"/>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1545336"/>
            <a:ext cx="7351775" cy="658368"/>
          </a:xfrm>
          <a:prstGeom prst="rect">
            <a:avLst/>
          </a:prstGeom>
          <a:noFill/>
        </p:spPr>
        <p:txBody>
          <a:bodyPr wrap="square" lIns="36576" rIns="36576" tIns="36576" bIns="18288" anchor="t">
            <a:spAutoFit/>
          </a:bodyPr>
          <a:lstStyle/>
          <a:p>
            <a:pPr algn="ctr">
              <a:spcBef>
                <a:spcPts val="0"/>
              </a:spcBef>
              <a:spcAft>
                <a:spcPts val="0"/>
              </a:spcAft>
              <a:defRPr sz="1800" b="1" i="0">
                <a:solidFill>
                  <a:srgbClr val="27313D"/>
                </a:solidFill>
                <a:latin typeface="Arial"/>
              </a:defRPr>
            </a:pPr>
            <a:r>
              <a:t>A database-first cinema system combining booking safety, rule-based pricing, movie recommendations and admin management.</a:t>
            </a:r>
          </a:p>
        </p:txBody>
      </p:sp>
      <p:sp>
        <p:nvSpPr>
          <p:cNvPr id="11" name="TextBox 10"/>
          <p:cNvSpPr txBox="1"/>
          <p:nvPr/>
        </p:nvSpPr>
        <p:spPr>
          <a:xfrm>
            <a:off x="786384" y="2871216"/>
            <a:ext cx="7498079" cy="384048"/>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Key references</a:t>
            </a:r>
          </a:p>
        </p:txBody>
      </p:sp>
      <p:sp>
        <p:nvSpPr>
          <p:cNvPr id="12" name="Oval 11"/>
          <p:cNvSpPr/>
          <p:nvPr/>
        </p:nvSpPr>
        <p:spPr>
          <a:xfrm>
            <a:off x="850392" y="3520440"/>
            <a:ext cx="68580" cy="68580"/>
          </a:xfrm>
          <a:prstGeom prst="ellipse">
            <a:avLst/>
          </a:prstGeom>
          <a:solidFill>
            <a:srgbClr val="5D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3374136"/>
            <a:ext cx="7223759" cy="457200"/>
          </a:xfrm>
          <a:prstGeom prst="rect">
            <a:avLst/>
          </a:prstGeom>
          <a:noFill/>
        </p:spPr>
        <p:txBody>
          <a:bodyPr wrap="square" lIns="36576" rIns="36576" tIns="36576" bIns="18288" anchor="t">
            <a:spAutoFit/>
          </a:bodyPr>
          <a:lstStyle/>
          <a:p>
            <a:pPr algn="l">
              <a:spcBef>
                <a:spcPts val="0"/>
              </a:spcBef>
              <a:spcAft>
                <a:spcPts val="0"/>
              </a:spcAft>
              <a:defRPr sz="1350" b="0" i="0">
                <a:solidFill>
                  <a:srgbClr val="27313D"/>
                </a:solidFill>
                <a:latin typeface="Arial"/>
              </a:defRPr>
            </a:pPr>
            <a:r>
              <a:t>MySQL 8.0 Reference Manual and Flask Documentation</a:t>
            </a:r>
          </a:p>
        </p:txBody>
      </p:sp>
      <p:sp>
        <p:nvSpPr>
          <p:cNvPr id="14" name="Oval 13"/>
          <p:cNvSpPr/>
          <p:nvPr/>
        </p:nvSpPr>
        <p:spPr>
          <a:xfrm>
            <a:off x="850392" y="4014216"/>
            <a:ext cx="68580" cy="68580"/>
          </a:xfrm>
          <a:prstGeom prst="ellipse">
            <a:avLst/>
          </a:prstGeom>
          <a:solidFill>
            <a:srgbClr val="5D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867912"/>
            <a:ext cx="7223759" cy="457200"/>
          </a:xfrm>
          <a:prstGeom prst="rect">
            <a:avLst/>
          </a:prstGeom>
          <a:noFill/>
        </p:spPr>
        <p:txBody>
          <a:bodyPr wrap="square" lIns="36576" rIns="36576" tIns="36576" bIns="18288" anchor="t">
            <a:spAutoFit/>
          </a:bodyPr>
          <a:lstStyle/>
          <a:p>
            <a:pPr algn="l">
              <a:spcBef>
                <a:spcPts val="0"/>
              </a:spcBef>
              <a:spcAft>
                <a:spcPts val="0"/>
              </a:spcAft>
              <a:defRPr sz="1350" b="0" i="0">
                <a:solidFill>
                  <a:srgbClr val="27313D"/>
                </a:solidFill>
                <a:latin typeface="Arial"/>
              </a:defRPr>
            </a:pPr>
            <a:r>
              <a:t>scikit-learn User Guide; Pandas Documentation</a:t>
            </a:r>
          </a:p>
        </p:txBody>
      </p:sp>
      <p:sp>
        <p:nvSpPr>
          <p:cNvPr id="16" name="Oval 15"/>
          <p:cNvSpPr/>
          <p:nvPr/>
        </p:nvSpPr>
        <p:spPr>
          <a:xfrm>
            <a:off x="850392" y="4507992"/>
            <a:ext cx="68580" cy="68580"/>
          </a:xfrm>
          <a:prstGeom prst="ellipse">
            <a:avLst/>
          </a:prstGeom>
          <a:solidFill>
            <a:srgbClr val="5D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361688"/>
            <a:ext cx="7223759" cy="457200"/>
          </a:xfrm>
          <a:prstGeom prst="rect">
            <a:avLst/>
          </a:prstGeom>
          <a:noFill/>
        </p:spPr>
        <p:txBody>
          <a:bodyPr wrap="square" lIns="36576" rIns="36576" tIns="36576" bIns="18288" anchor="t">
            <a:spAutoFit/>
          </a:bodyPr>
          <a:lstStyle/>
          <a:p>
            <a:pPr algn="l">
              <a:spcBef>
                <a:spcPts val="0"/>
              </a:spcBef>
              <a:spcAft>
                <a:spcPts val="0"/>
              </a:spcAft>
              <a:defRPr sz="1350" b="0" i="0">
                <a:solidFill>
                  <a:srgbClr val="27313D"/>
                </a:solidFill>
                <a:latin typeface="Arial"/>
              </a:defRPr>
            </a:pPr>
            <a:r>
              <a:t>Bootstrap / Chart.js Documentation; project testing evidence</a:t>
            </a:r>
          </a:p>
        </p:txBody>
      </p:sp>
      <p:sp>
        <p:nvSpPr>
          <p:cNvPr id="18" name="TextBox 17"/>
          <p:cNvSpPr txBox="1"/>
          <p:nvPr/>
        </p:nvSpPr>
        <p:spPr>
          <a:xfrm>
            <a:off x="877824" y="5074920"/>
            <a:ext cx="7370064" cy="301752"/>
          </a:xfrm>
          <a:prstGeom prst="rect">
            <a:avLst/>
          </a:prstGeom>
          <a:noFill/>
        </p:spPr>
        <p:txBody>
          <a:bodyPr wrap="square" lIns="36576" rIns="36576" tIns="36576" bIns="18288" anchor="t">
            <a:spAutoFit/>
          </a:bodyPr>
          <a:lstStyle/>
          <a:p>
            <a:pPr algn="l">
              <a:spcBef>
                <a:spcPts val="0"/>
              </a:spcBef>
              <a:spcAft>
                <a:spcPts val="0"/>
              </a:spcAft>
              <a:defRPr sz="1300" b="0" i="0">
                <a:solidFill>
                  <a:srgbClr val="5D646E"/>
                </a:solidFill>
                <a:latin typeface="Arial"/>
              </a:defRPr>
            </a:pPr>
            <a:r>
              <a:t>GitHub repository: [Insert repository URL]</a:t>
            </a:r>
          </a:p>
        </p:txBody>
      </p:sp>
      <p:sp>
        <p:nvSpPr>
          <p:cNvPr id="19" name="TextBox 18"/>
          <p:cNvSpPr txBox="1"/>
          <p:nvPr/>
        </p:nvSpPr>
        <p:spPr>
          <a:xfrm>
            <a:off x="786384" y="5650992"/>
            <a:ext cx="7589520" cy="329184"/>
          </a:xfrm>
          <a:prstGeom prst="rect">
            <a:avLst/>
          </a:prstGeom>
          <a:noFill/>
        </p:spPr>
        <p:txBody>
          <a:bodyPr wrap="square" lIns="36576" rIns="36576" tIns="36576" bIns="18288" anchor="t">
            <a:spAutoFit/>
          </a:bodyPr>
          <a:lstStyle/>
          <a:p>
            <a:pPr algn="ctr">
              <a:spcBef>
                <a:spcPts val="0"/>
              </a:spcBef>
              <a:spcAft>
                <a:spcPts val="0"/>
              </a:spcAft>
              <a:defRPr sz="2100" b="1" i="0">
                <a:solidFill>
                  <a:srgbClr val="D94410"/>
                </a:solidFill>
                <a:latin typeface="Arial"/>
              </a:defRPr>
            </a:pPr>
            <a: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68</TotalTime>
  <Words>196</Words>
  <Application>Microsoft Office PowerPoint</Application>
  <PresentationFormat>On-screen Show (4:3)</PresentationFormat>
  <Paragraphs>50</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Calibri</vt:lpstr>
      <vt:lpstr>Franklin Gothic Book</vt:lpstr>
      <vt:lpstr>Perpetua</vt:lpstr>
      <vt:lpstr>Times New Roman</vt:lpstr>
      <vt:lpstr>Wingdings 2</vt:lpstr>
      <vt:lpstr>Equity</vt:lpstr>
      <vt:lpstr>Project Title</vt:lpstr>
      <vt:lpstr>Presentation flow</vt:lpstr>
      <vt:lpstr>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Midterm Presentation  on  “Project Title”</dc:title>
  <dc:creator>Vrushali</dc:creator>
  <cp:lastModifiedBy>Vibha Patel</cp:lastModifiedBy>
  <cp:revision>25</cp:revision>
  <dcterms:created xsi:type="dcterms:W3CDTF">2006-08-16T00:00:00Z</dcterms:created>
  <dcterms:modified xsi:type="dcterms:W3CDTF">2025-09-05T10:33:42Z</dcterms:modified>
</cp:coreProperties>
</file>